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>
        <p:scale>
          <a:sx n="76" d="100"/>
          <a:sy n="76" d="100"/>
        </p:scale>
        <p:origin x="1864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41CD2-C052-144A-AB39-BC2BCF5B80F8}" type="datetimeFigureOut">
              <a:rPr kumimoji="1" lang="zh-CN" altLang="en-US" smtClean="0"/>
              <a:t>2026/8/29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0F4AE-5587-564F-96F6-693AE01057D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17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6733" y="714375"/>
            <a:ext cx="1028674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5F7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Conceptual framework and empirical estimand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6733" y="1190625"/>
            <a:ext cx="10858229" cy="19050"/>
          </a:xfrm>
          <a:prstGeom prst="rect">
            <a:avLst/>
          </a:prstGeom>
          <a:solidFill>
            <a:srgbClr val="8FB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6278" y="1438275"/>
            <a:ext cx="8249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839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EXPOSURE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68190" y="1438275"/>
            <a:ext cx="29249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839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UNOBSERVED THEORETICAL PROCESS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0365" y="1438275"/>
            <a:ext cx="1632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839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OBSERVED OUTCOME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6733" y="1733550"/>
            <a:ext cx="2800280" cy="1504950"/>
          </a:xfrm>
          <a:prstGeom prst="rect">
            <a:avLst/>
          </a:prstGeom>
          <a:solidFill>
            <a:srgbClr val="F0F7FB"/>
          </a:solidFill>
          <a:ln w="15875">
            <a:solidFill>
              <a:srgbClr val="78A9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6278" y="1914525"/>
            <a:ext cx="3668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i="1" dirty="0">
                <a:solidFill>
                  <a:srgbClr val="2F88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Hₚₜ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76278" y="2295525"/>
            <a:ext cx="2465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5F7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Warm-season humid heat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278" y="2790825"/>
            <a:ext cx="2409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E7A9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Population-weighted ERA5 Humidex, May–September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816" y="1733550"/>
            <a:ext cx="3105072" cy="1504950"/>
          </a:xfrm>
          <a:prstGeom prst="rect">
            <a:avLst/>
          </a:prstGeom>
          <a:solidFill>
            <a:srgbClr val="F7FBFD"/>
          </a:solidFill>
          <a:ln w="15875">
            <a:solidFill>
              <a:srgbClr val="78A9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62361" y="1914525"/>
            <a:ext cx="3961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i="1" dirty="0">
                <a:solidFill>
                  <a:srgbClr val="2F88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Mₚₜ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4562361" y="2295525"/>
            <a:ext cx="2868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5F7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Health need and care-seeking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2361" y="2790825"/>
            <a:ext cx="27145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E7A9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Physiological strain, symptoms, access, and treatment-seeking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43691" y="1733550"/>
            <a:ext cx="3181270" cy="1504950"/>
          </a:xfrm>
          <a:prstGeom prst="rect">
            <a:avLst/>
          </a:prstGeom>
          <a:solidFill>
            <a:srgbClr val="F0F7FB"/>
          </a:solidFill>
          <a:ln w="15875">
            <a:solidFill>
              <a:srgbClr val="78A9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53236" y="1914525"/>
            <a:ext cx="3149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i="1" dirty="0">
                <a:solidFill>
                  <a:srgbClr val="2F88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Yₚₜ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8553236" y="2295525"/>
            <a:ext cx="2811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5F7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Outpatient visits per resident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53236" y="2790825"/>
            <a:ext cx="2790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E7A9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Annual provincial utilization from official health statistics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95588" y="2495550"/>
            <a:ext cx="819130" cy="9525"/>
          </a:xfrm>
          <a:prstGeom prst="line">
            <a:avLst/>
          </a:prstGeom>
          <a:solidFill>
            <a:srgbClr val="FFFFFF">
              <a:alpha val="0"/>
            </a:srgbClr>
          </a:solidFill>
          <a:ln w="22225">
            <a:solidFill>
              <a:srgbClr val="5C8EA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86463" y="2495550"/>
            <a:ext cx="819130" cy="9525"/>
          </a:xfrm>
          <a:prstGeom prst="line">
            <a:avLst/>
          </a:prstGeom>
          <a:solidFill>
            <a:srgbClr val="FFFFFF">
              <a:alpha val="0"/>
            </a:srgbClr>
          </a:solidFill>
          <a:ln w="22225">
            <a:solidFill>
              <a:srgbClr val="5C8EA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495588" y="2105025"/>
            <a:ext cx="7810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839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may generate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05513" y="1936750"/>
            <a:ext cx="781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839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may translate into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38419" y="3867150"/>
            <a:ext cx="3428914" cy="1171575"/>
          </a:xfrm>
          <a:prstGeom prst="rect">
            <a:avLst/>
          </a:prstGeom>
          <a:solidFill>
            <a:srgbClr val="E4F3F9"/>
          </a:solidFill>
          <a:ln w="19050">
            <a:solidFill>
              <a:srgbClr val="53A2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47964" y="4038600"/>
            <a:ext cx="6013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F88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Cₚ,ₜ₋₁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3447964" y="4419600"/>
            <a:ext cx="20432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5F7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Lagged capacity index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47964" y="4752975"/>
            <a:ext cx="3057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A9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Physician-and-nurse index per 10,000 residents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67499" y="3248025"/>
            <a:ext cx="1638093" cy="1082675"/>
          </a:xfrm>
          <a:prstGeom prst="lineInv">
            <a:avLst/>
          </a:prstGeom>
          <a:solidFill>
            <a:srgbClr val="4F9FBE">
              <a:alpha val="0"/>
            </a:srgbClr>
          </a:solidFill>
          <a:ln w="12700">
            <a:solidFill>
              <a:srgbClr val="4F9FB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0" y="4432300"/>
            <a:ext cx="147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8EA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Hypothesized modification of the H → Y slope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43691" y="3452812"/>
            <a:ext cx="3181270" cy="1552575"/>
          </a:xfrm>
          <a:prstGeom prst="rect">
            <a:avLst/>
          </a:prstGeom>
          <a:solidFill>
            <a:srgbClr val="D9EDF7"/>
          </a:solidFill>
          <a:ln w="15875">
            <a:solidFill>
              <a:srgbClr val="86B7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34187" y="3614737"/>
            <a:ext cx="22587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8EA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FIXED-EFFECTS SPECIFICATION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34187" y="3910012"/>
            <a:ext cx="282885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85B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Yₚₜ = β₁Hₚₜ + β₂Cₚ,ₜ₋₁ + β₃(Hₚₜ × Cₚ,ₜ₋₁) + αₚ + λₜ + εₚₜ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34187" y="4519612"/>
            <a:ext cx="28288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56D8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Primary estimand: β₃, the difference in the ecological Humidex slope by lagged capacity.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6733" y="5581650"/>
            <a:ext cx="10858229" cy="9525"/>
          </a:xfrm>
          <a:prstGeom prst="rect">
            <a:avLst/>
          </a:prstGeom>
          <a:solidFill>
            <a:srgbClr val="C6DC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1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DC2BEE-A936-C04C-8A58-FC3273FAECA9}">
  <we:reference id="wa200010215" version="2.0.0.0" store="zh-CN" storeType="OMEX"/>
  <we:alternateReferences>
    <we:reference id="wa200010215" version="2.0.0.0" store="zh-CN" storeType="OMEX"/>
  </we:alternateReferences>
  <we:properties>
    <we:property name="bps.codex_control.document_id" value="&quot;709ac23a-2b6f-411d-b47a-0d48bc848aa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122</Words>
  <Application>Microsoft Macintosh PowerPoint</Application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Cambria Math</vt:lpstr>
      <vt:lpstr>Comic Sans MS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ClaireZ [Student]</dc:creator>
  <cp:lastModifiedBy>ZHANG, ClaireZ [Student]</cp:lastModifiedBy>
  <cp:revision>5</cp:revision>
  <dcterms:created xsi:type="dcterms:W3CDTF">2026-08-27T16:36:56Z</dcterms:created>
  <dcterms:modified xsi:type="dcterms:W3CDTF">2026-08-29T04:10:36Z</dcterms:modified>
</cp:coreProperties>
</file>