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>
        <p:scale>
          <a:sx n="83" d="100"/>
          <a:sy n="83" d="100"/>
        </p:scale>
        <p:origin x="192" y="960"/>
      </p:cViewPr>
      <p:guideLst/>
    </p:cSldViewPr>
  </p:slideViewPr>
  <p:notesTextViewPr>
    <p:cViewPr>
      <p:scale>
        <a:sx n="120" d="100"/>
        <a:sy n="1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48412-7773-473C-01F5-B5844ED0C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6475C3-1795-F409-5260-4237F222A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DA54D-37DA-F056-D13A-67B4B3F5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4504B-987E-4C27-F968-E0E3C7049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42C5C-7768-E08C-DD1D-B4140514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053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7BEA4-4F71-59A4-6307-C85AB826D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15524-AFF7-37DA-1326-A59BB1BAA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489B5-A780-1D91-32D8-D8A68AD9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4C87A6-0180-1D3F-7F2A-8FC67838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4046B2-688E-CE9C-5291-AAFE89D8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581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E8A45-37B1-F873-86B6-8104F92B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68CB6F-734A-13A5-8789-EA0FA33A6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9317F-D15D-9A2F-9756-D1FA80CF6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CD54A-1C76-252E-1EA0-F2B58466B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583E4-5DC3-2AAD-0E4A-4C22D953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789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F88D8-C942-96A9-0476-8710A2F4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B1E6C-174C-6840-BAC8-48743FF35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683480-3EC3-3817-D217-5198BFBA5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47A260-ACBC-A783-9302-66F11368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6C6799-84F8-95BE-482C-FAAF90CA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37D5AD-0E2E-5330-BA24-596318E1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38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6EBBF-B5B3-D56B-D478-DC5A4CF6F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527648-94BC-209E-3FC2-F0FA59D0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0707F6-1EB3-D0F0-17EA-B2E409AB0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16BCE8-AD8C-6B22-E07E-9106D6658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1868D7-0E78-D8C1-BCBD-B770EF1BD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1D00BD-ADFC-6782-1305-862893CE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D04CCA-591F-3E4E-A7ED-D039FF27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08BC0A-1D42-279E-CCCE-974BA9C5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947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B33C3-2A87-2184-C2D6-F9DBACE8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3318D2-C33C-358D-0F4F-60DD94942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F0BEDC-403B-0A6D-8DE2-9851C283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EEE3DC-722C-337B-422B-CE8BB7B8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276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EFC4D2-CBE5-A56B-A1B8-4B280F24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CCE18D-5DA8-3DA8-73C2-1BD4E03D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94C032-9B21-FA32-D838-58A33C32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646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EF084-1FFD-0B79-E581-B6ECC293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BA4FE-2D0A-8862-FE14-D7C40C6C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F6C78D-C455-4E4A-9051-4135EEC8C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1E3F8F-FECE-16D4-890B-34395F4A2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8DB44-CECA-CB2A-C9AE-4B19DC5E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8B5A48-BB01-5FBB-27F8-DCCD61A7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379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57DEE-E142-27D6-B243-F6ADF5E9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9827F1-63DA-A194-E208-22E7C0620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48FDB1-C7E6-13D5-0782-197086BD3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8985BC-FA86-FBEC-4E16-DEA9C2FD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F643A-3FC2-EF4F-4257-BA1C12C8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F9CB8-A2CE-96A6-DD75-02AB959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194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A364D-4363-7DC9-CD42-02CF96CE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737ADE-E501-D6DB-B0FD-612F72862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8443D8-A46D-84A4-36F6-75EA3BAA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45A7F-CB1A-22E8-6916-49F562D5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484A0-B819-FD4A-B707-3C04FC27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498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CEECF2-1B2E-C6B1-69A1-923CD2D96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45EAF6-2EF9-17C4-8374-F1A28A277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A3E1A-C43C-2AA6-A4A9-732DAADD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2D08A-E025-F17B-C2F5-548F979B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CDF203-18D2-FA22-2C86-8D920179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889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61516E-7054-4297-CB7F-DE69AC01F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214521-DD6A-96A6-209C-F3C614817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085A2E-34EC-D9B2-B0DF-09E2D9895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EA29D-7D05-0040-9D05-013B8C8FF7E0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3B5A5-E8F6-4146-49AC-50709492A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AA530D-4D1D-9248-C66E-EB5D7BD87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12707-DFDF-2040-A371-196EF8B99C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600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矩形 520">
            <a:extLst>
              <a:ext uri="{FF2B5EF4-FFF2-40B4-BE49-F238E27FC236}">
                <a16:creationId xmlns:a16="http://schemas.microsoft.com/office/drawing/2014/main" id="{981BC2F3-5C8B-2543-946A-9DC18C0C12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 w="6350" cap="flat" cmpd="sng" algn="ctr">
            <a:solidFill>
              <a:srgbClr val="F8FA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2" name="圆角矩形 521">
            <a:extLst>
              <a:ext uri="{FF2B5EF4-FFF2-40B4-BE49-F238E27FC236}">
                <a16:creationId xmlns:a16="http://schemas.microsoft.com/office/drawing/2014/main" id="{830C380A-ECB7-7C43-AA3B-E620953AC926}"/>
              </a:ext>
            </a:extLst>
          </p:cNvPr>
          <p:cNvSpPr/>
          <p:nvPr/>
        </p:nvSpPr>
        <p:spPr>
          <a:xfrm>
            <a:off x="355600" y="500062"/>
            <a:ext cx="11480800" cy="5976937"/>
          </a:xfrm>
          <a:prstGeom prst="roundRect">
            <a:avLst/>
          </a:prstGeom>
          <a:solidFill>
            <a:srgbClr val="FFFFFF"/>
          </a:solidFill>
          <a:ln w="11430" cap="flat" cmpd="sng" algn="ctr">
            <a:solidFill>
              <a:srgbClr val="C7D2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42116713-973D-5340-8D2C-5EF45002068E}"/>
              </a:ext>
            </a:extLst>
          </p:cNvPr>
          <p:cNvSpPr txBox="1"/>
          <p:nvPr/>
        </p:nvSpPr>
        <p:spPr>
          <a:xfrm>
            <a:off x="736600" y="691717"/>
            <a:ext cx="107188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" altLang="zh-CN" sz="2400" b="1" dirty="0">
                <a:solidFill>
                  <a:srgbClr val="7C3AED"/>
                </a:solidFill>
                <a:latin typeface="Comic Sans MS"/>
              </a:rPr>
              <a:t>QAPCF Evidence-to-Action Architecture</a:t>
            </a:r>
            <a:endParaRPr lang="zh-CN" altLang="en-US" sz="2400" b="1" dirty="0">
              <a:solidFill>
                <a:srgbClr val="7C3AED"/>
              </a:solidFill>
              <a:latin typeface="Comic Sans MS"/>
            </a:endParaRPr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CDA32D5C-E9EF-B040-96D5-E4C8511E7C54}"/>
              </a:ext>
            </a:extLst>
          </p:cNvPr>
          <p:cNvSpPr/>
          <p:nvPr/>
        </p:nvSpPr>
        <p:spPr>
          <a:xfrm>
            <a:off x="762000" y="1219200"/>
            <a:ext cx="10668000" cy="19050"/>
          </a:xfrm>
          <a:prstGeom prst="rect">
            <a:avLst/>
          </a:prstGeom>
          <a:solidFill>
            <a:srgbClr val="1B2842"/>
          </a:solidFill>
          <a:ln w="6350" cap="flat" cmpd="sng" algn="ctr">
            <a:solidFill>
              <a:srgbClr val="1B28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6" name="圆角矩形 525">
            <a:extLst>
              <a:ext uri="{FF2B5EF4-FFF2-40B4-BE49-F238E27FC236}">
                <a16:creationId xmlns:a16="http://schemas.microsoft.com/office/drawing/2014/main" id="{73D7DA05-9B08-EE4A-A787-0CAC0F6A1814}"/>
              </a:ext>
            </a:extLst>
          </p:cNvPr>
          <p:cNvSpPr/>
          <p:nvPr/>
        </p:nvSpPr>
        <p:spPr>
          <a:xfrm>
            <a:off x="660400" y="1549400"/>
            <a:ext cx="2489200" cy="3517900"/>
          </a:xfrm>
          <a:prstGeom prst="roundRect">
            <a:avLst/>
          </a:prstGeom>
          <a:solidFill>
            <a:srgbClr val="FAFBFF"/>
          </a:solidFill>
          <a:ln w="1270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EFFF078E-73CC-0C4A-96FF-17AD2138955F}"/>
              </a:ext>
            </a:extLst>
          </p:cNvPr>
          <p:cNvSpPr txBox="1"/>
          <p:nvPr/>
        </p:nvSpPr>
        <p:spPr>
          <a:xfrm>
            <a:off x="777240" y="1663700"/>
            <a:ext cx="219456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" altLang="zh-CN" sz="1200" b="1" dirty="0">
                <a:solidFill>
                  <a:srgbClr val="3B82F6"/>
                </a:solidFill>
                <a:latin typeface="Comic Sans MS"/>
              </a:rPr>
              <a:t>MULTIMODAL EVIDENCE</a:t>
            </a:r>
            <a:endParaRPr lang="zh-CN" altLang="en-US" sz="1200" b="1" dirty="0">
              <a:solidFill>
                <a:srgbClr val="3B82F6"/>
              </a:solidFill>
              <a:latin typeface="Comic Sans MS"/>
            </a:endParaRP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D43C7C9E-4DFD-2D42-BF0A-1F74EFBF51C1}"/>
              </a:ext>
            </a:extLst>
          </p:cNvPr>
          <p:cNvSpPr txBox="1"/>
          <p:nvPr/>
        </p:nvSpPr>
        <p:spPr>
          <a:xfrm>
            <a:off x="863600" y="1943100"/>
            <a:ext cx="2082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" altLang="zh-CN" sz="1100" b="1">
                <a:solidFill>
                  <a:srgbClr val="1E2A44"/>
                </a:solidFill>
                <a:latin typeface="Cambria Math"/>
                <a:ea typeface="Cambria Math"/>
                <a:cs typeface="Courier New"/>
              </a:rPr>
              <a:t>x = {e, p, a, s}</a:t>
            </a:r>
            <a:endParaRPr lang="zh-CN" altLang="en-US" sz="1100" b="1">
              <a:solidFill>
                <a:srgbClr val="1E2A44"/>
              </a:solidFill>
              <a:latin typeface="Cambria Math"/>
              <a:cs typeface="Courier New"/>
            </a:endParaRPr>
          </a:p>
        </p:txBody>
      </p:sp>
      <p:sp>
        <p:nvSpPr>
          <p:cNvPr id="529" name="圆角矩形 528">
            <a:extLst>
              <a:ext uri="{FF2B5EF4-FFF2-40B4-BE49-F238E27FC236}">
                <a16:creationId xmlns:a16="http://schemas.microsoft.com/office/drawing/2014/main" id="{4BCD5BD8-53AE-FB4A-87E9-D77AAD1E3C1F}"/>
              </a:ext>
            </a:extLst>
          </p:cNvPr>
          <p:cNvSpPr/>
          <p:nvPr/>
        </p:nvSpPr>
        <p:spPr>
          <a:xfrm>
            <a:off x="850900" y="2336800"/>
            <a:ext cx="2108200" cy="482600"/>
          </a:xfrm>
          <a:prstGeom prst="roundRect">
            <a:avLst/>
          </a:prstGeom>
          <a:solidFill>
            <a:srgbClr val="EAF2FF"/>
          </a:solidFill>
          <a:ln w="1016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0" name="椭圆 529">
            <a:extLst>
              <a:ext uri="{FF2B5EF4-FFF2-40B4-BE49-F238E27FC236}">
                <a16:creationId xmlns:a16="http://schemas.microsoft.com/office/drawing/2014/main" id="{729E12DC-AC22-574A-87CE-A9A5BCFCF741}"/>
              </a:ext>
            </a:extLst>
          </p:cNvPr>
          <p:cNvSpPr/>
          <p:nvPr/>
        </p:nvSpPr>
        <p:spPr>
          <a:xfrm>
            <a:off x="952500" y="2425700"/>
            <a:ext cx="304800" cy="3048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9A7D1282-9865-A743-BB99-A28D8676713A}"/>
              </a:ext>
            </a:extLst>
          </p:cNvPr>
          <p:cNvSpPr txBox="1"/>
          <p:nvPr/>
        </p:nvSpPr>
        <p:spPr>
          <a:xfrm>
            <a:off x="952500" y="24257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zh-CN" altLang="en-US" sz="1000" b="1" dirty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32" name="文本框 531">
            <a:extLst>
              <a:ext uri="{FF2B5EF4-FFF2-40B4-BE49-F238E27FC236}">
                <a16:creationId xmlns:a16="http://schemas.microsoft.com/office/drawing/2014/main" id="{1336C2CC-1CCF-F94B-9781-F9061653DA3A}"/>
              </a:ext>
            </a:extLst>
          </p:cNvPr>
          <p:cNvSpPr txBox="1"/>
          <p:nvPr/>
        </p:nvSpPr>
        <p:spPr>
          <a:xfrm>
            <a:off x="1346200" y="2374900"/>
            <a:ext cx="1473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900" b="1">
                <a:solidFill>
                  <a:srgbClr val="3B82F6"/>
                </a:solidFill>
                <a:latin typeface="Comic Sans MS"/>
              </a:rPr>
              <a:t>Environment</a:t>
            </a:r>
            <a:endParaRPr lang="zh-CN" altLang="en-US" sz="900" b="1">
              <a:solidFill>
                <a:srgbClr val="3B82F6"/>
              </a:solidFill>
              <a:latin typeface="Comic Sans MS"/>
            </a:endParaRPr>
          </a:p>
        </p:txBody>
      </p:sp>
      <p:sp>
        <p:nvSpPr>
          <p:cNvPr id="533" name="文本框 532">
            <a:extLst>
              <a:ext uri="{FF2B5EF4-FFF2-40B4-BE49-F238E27FC236}">
                <a16:creationId xmlns:a16="http://schemas.microsoft.com/office/drawing/2014/main" id="{974F363F-915E-B646-A79C-F2C912616ADB}"/>
              </a:ext>
            </a:extLst>
          </p:cNvPr>
          <p:cNvSpPr txBox="1"/>
          <p:nvPr/>
        </p:nvSpPr>
        <p:spPr>
          <a:xfrm>
            <a:off x="1346200" y="2578100"/>
            <a:ext cx="1473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700" dirty="0">
                <a:solidFill>
                  <a:srgbClr val="30394C"/>
                </a:solidFill>
                <a:latin typeface="Comic Sans MS"/>
              </a:rPr>
              <a:t>temperature · humidity wind · solar</a:t>
            </a:r>
            <a:endParaRPr lang="zh-CN" altLang="en-US" sz="700" dirty="0">
              <a:solidFill>
                <a:srgbClr val="30394C"/>
              </a:solidFill>
              <a:latin typeface="Comic Sans MS"/>
            </a:endParaRPr>
          </a:p>
        </p:txBody>
      </p:sp>
      <p:sp>
        <p:nvSpPr>
          <p:cNvPr id="534" name="圆角矩形 533">
            <a:extLst>
              <a:ext uri="{FF2B5EF4-FFF2-40B4-BE49-F238E27FC236}">
                <a16:creationId xmlns:a16="http://schemas.microsoft.com/office/drawing/2014/main" id="{1EC75E3E-4622-5946-AD59-6D0DE7148FE7}"/>
              </a:ext>
            </a:extLst>
          </p:cNvPr>
          <p:cNvSpPr/>
          <p:nvPr/>
        </p:nvSpPr>
        <p:spPr>
          <a:xfrm>
            <a:off x="850900" y="2921000"/>
            <a:ext cx="2108200" cy="482600"/>
          </a:xfrm>
          <a:prstGeom prst="roundRect">
            <a:avLst/>
          </a:prstGeom>
          <a:solidFill>
            <a:srgbClr val="EEF2FF"/>
          </a:solidFill>
          <a:ln w="10160" cap="flat" cmpd="sng" algn="ctr">
            <a:solidFill>
              <a:srgbClr val="4F46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5" name="椭圆 534">
            <a:extLst>
              <a:ext uri="{FF2B5EF4-FFF2-40B4-BE49-F238E27FC236}">
                <a16:creationId xmlns:a16="http://schemas.microsoft.com/office/drawing/2014/main" id="{CC60071F-C2C8-2349-AF0D-B9E63EB4F7F8}"/>
              </a:ext>
            </a:extLst>
          </p:cNvPr>
          <p:cNvSpPr/>
          <p:nvPr/>
        </p:nvSpPr>
        <p:spPr>
          <a:xfrm>
            <a:off x="952500" y="3009900"/>
            <a:ext cx="304800" cy="3048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6" name="文本框 535">
            <a:extLst>
              <a:ext uri="{FF2B5EF4-FFF2-40B4-BE49-F238E27FC236}">
                <a16:creationId xmlns:a16="http://schemas.microsoft.com/office/drawing/2014/main" id="{322DDED5-F964-FB45-BE8D-68E5019A2AA4}"/>
              </a:ext>
            </a:extLst>
          </p:cNvPr>
          <p:cNvSpPr txBox="1"/>
          <p:nvPr/>
        </p:nvSpPr>
        <p:spPr>
          <a:xfrm>
            <a:off x="952500" y="30099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zh-CN" altLang="en-US" sz="1000" b="1" dirty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37" name="文本框 536">
            <a:extLst>
              <a:ext uri="{FF2B5EF4-FFF2-40B4-BE49-F238E27FC236}">
                <a16:creationId xmlns:a16="http://schemas.microsoft.com/office/drawing/2014/main" id="{422AFCD0-19AC-7142-B163-ACAD3FA8DE6B}"/>
              </a:ext>
            </a:extLst>
          </p:cNvPr>
          <p:cNvSpPr txBox="1"/>
          <p:nvPr/>
        </p:nvSpPr>
        <p:spPr>
          <a:xfrm>
            <a:off x="1346200" y="2959100"/>
            <a:ext cx="1473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900" b="1">
                <a:solidFill>
                  <a:srgbClr val="4F46E5"/>
                </a:solidFill>
                <a:latin typeface="Comic Sans MS"/>
              </a:rPr>
              <a:t>Physiology</a:t>
            </a:r>
            <a:endParaRPr lang="zh-CN" altLang="en-US" sz="900" b="1">
              <a:solidFill>
                <a:srgbClr val="4F46E5"/>
              </a:solidFill>
              <a:latin typeface="Comic Sans MS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DB79E41F-3ABB-B743-B8B3-D199D40EA3A1}"/>
              </a:ext>
            </a:extLst>
          </p:cNvPr>
          <p:cNvSpPr txBox="1"/>
          <p:nvPr/>
        </p:nvSpPr>
        <p:spPr>
          <a:xfrm>
            <a:off x="1346200" y="3162300"/>
            <a:ext cx="1473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700">
                <a:solidFill>
                  <a:srgbClr val="30394C"/>
                </a:solidFill>
                <a:latin typeface="Comic Sans MS"/>
              </a:rPr>
              <a:t>heart rate · skin temperature</a:t>
            </a:r>
            <a:endParaRPr lang="zh-CN" altLang="en-US" sz="700">
              <a:solidFill>
                <a:srgbClr val="30394C"/>
              </a:solidFill>
              <a:latin typeface="Comic Sans MS"/>
            </a:endParaRPr>
          </a:p>
        </p:txBody>
      </p:sp>
      <p:sp>
        <p:nvSpPr>
          <p:cNvPr id="539" name="圆角矩形 538">
            <a:extLst>
              <a:ext uri="{FF2B5EF4-FFF2-40B4-BE49-F238E27FC236}">
                <a16:creationId xmlns:a16="http://schemas.microsoft.com/office/drawing/2014/main" id="{81682C58-4A17-B349-BEB3-ACE84B44DFF8}"/>
              </a:ext>
            </a:extLst>
          </p:cNvPr>
          <p:cNvSpPr/>
          <p:nvPr/>
        </p:nvSpPr>
        <p:spPr>
          <a:xfrm>
            <a:off x="850900" y="3505200"/>
            <a:ext cx="2108200" cy="482600"/>
          </a:xfrm>
          <a:prstGeom prst="roundRect">
            <a:avLst/>
          </a:prstGeom>
          <a:solidFill>
            <a:srgbClr val="F3E8FF"/>
          </a:solidFill>
          <a:ln w="1016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0" name="椭圆 539">
            <a:extLst>
              <a:ext uri="{FF2B5EF4-FFF2-40B4-BE49-F238E27FC236}">
                <a16:creationId xmlns:a16="http://schemas.microsoft.com/office/drawing/2014/main" id="{B9A3C305-BBC3-F845-A479-3B2705766BD1}"/>
              </a:ext>
            </a:extLst>
          </p:cNvPr>
          <p:cNvSpPr/>
          <p:nvPr/>
        </p:nvSpPr>
        <p:spPr>
          <a:xfrm>
            <a:off x="952500" y="3594100"/>
            <a:ext cx="304800" cy="3048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97DC14F7-4C7A-0446-984F-63F85C606A7E}"/>
              </a:ext>
            </a:extLst>
          </p:cNvPr>
          <p:cNvSpPr txBox="1"/>
          <p:nvPr/>
        </p:nvSpPr>
        <p:spPr>
          <a:xfrm>
            <a:off x="952500" y="35941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zh-CN" altLang="en-US" sz="1000" b="1" dirty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64BB61E8-515C-CF41-A520-F4F1679CFB04}"/>
              </a:ext>
            </a:extLst>
          </p:cNvPr>
          <p:cNvSpPr txBox="1"/>
          <p:nvPr/>
        </p:nvSpPr>
        <p:spPr>
          <a:xfrm>
            <a:off x="1346200" y="3543300"/>
            <a:ext cx="1473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900" b="1">
                <a:solidFill>
                  <a:srgbClr val="8B5CF6"/>
                </a:solidFill>
                <a:latin typeface="Comic Sans MS"/>
              </a:rPr>
              <a:t>Activity</a:t>
            </a:r>
            <a:endParaRPr lang="zh-CN" altLang="en-US" sz="900" b="1">
              <a:solidFill>
                <a:srgbClr val="8B5CF6"/>
              </a:solidFill>
              <a:latin typeface="Comic Sans MS"/>
            </a:endParaRPr>
          </a:p>
        </p:txBody>
      </p:sp>
      <p:sp>
        <p:nvSpPr>
          <p:cNvPr id="543" name="文本框 542">
            <a:extLst>
              <a:ext uri="{FF2B5EF4-FFF2-40B4-BE49-F238E27FC236}">
                <a16:creationId xmlns:a16="http://schemas.microsoft.com/office/drawing/2014/main" id="{333CEE1B-2BDB-3345-88E6-D66940D9E6D3}"/>
              </a:ext>
            </a:extLst>
          </p:cNvPr>
          <p:cNvSpPr txBox="1"/>
          <p:nvPr/>
        </p:nvSpPr>
        <p:spPr>
          <a:xfrm>
            <a:off x="1346200" y="3746500"/>
            <a:ext cx="1473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700">
                <a:solidFill>
                  <a:srgbClr val="30394C"/>
                </a:solidFill>
                <a:latin typeface="Comic Sans MS"/>
              </a:rPr>
              <a:t>accelerometry windows</a:t>
            </a:r>
            <a:endParaRPr lang="zh-CN" altLang="en-US" sz="700">
              <a:solidFill>
                <a:srgbClr val="30394C"/>
              </a:solidFill>
              <a:latin typeface="Comic Sans MS"/>
            </a:endParaRPr>
          </a:p>
        </p:txBody>
      </p:sp>
      <p:sp>
        <p:nvSpPr>
          <p:cNvPr id="544" name="圆角矩形 543">
            <a:extLst>
              <a:ext uri="{FF2B5EF4-FFF2-40B4-BE49-F238E27FC236}">
                <a16:creationId xmlns:a16="http://schemas.microsoft.com/office/drawing/2014/main" id="{7B9BF76B-5213-DD41-AD77-A2720A442A94}"/>
              </a:ext>
            </a:extLst>
          </p:cNvPr>
          <p:cNvSpPr/>
          <p:nvPr/>
        </p:nvSpPr>
        <p:spPr>
          <a:xfrm>
            <a:off x="850900" y="4089400"/>
            <a:ext cx="2108200" cy="482600"/>
          </a:xfrm>
          <a:prstGeom prst="roundRect">
            <a:avLst/>
          </a:prstGeom>
          <a:solidFill>
            <a:srgbClr val="F0F3FA"/>
          </a:solidFill>
          <a:ln w="10160" cap="flat" cmpd="sng" algn="ctr">
            <a:solidFill>
              <a:srgbClr val="596A9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5" name="椭圆 544">
            <a:extLst>
              <a:ext uri="{FF2B5EF4-FFF2-40B4-BE49-F238E27FC236}">
                <a16:creationId xmlns:a16="http://schemas.microsoft.com/office/drawing/2014/main" id="{622F4958-E17E-E24B-8F99-922B472C5714}"/>
              </a:ext>
            </a:extLst>
          </p:cNvPr>
          <p:cNvSpPr/>
          <p:nvPr/>
        </p:nvSpPr>
        <p:spPr>
          <a:xfrm>
            <a:off x="952500" y="4178300"/>
            <a:ext cx="304800" cy="304800"/>
          </a:xfrm>
          <a:prstGeom prst="ellipse">
            <a:avLst/>
          </a:prstGeom>
          <a:solidFill>
            <a:srgbClr val="596A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D027F985-AEE5-BE43-B4D1-34C42F988F4D}"/>
              </a:ext>
            </a:extLst>
          </p:cNvPr>
          <p:cNvSpPr txBox="1"/>
          <p:nvPr/>
        </p:nvSpPr>
        <p:spPr>
          <a:xfrm>
            <a:off x="952500" y="41783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zh-CN" altLang="en-US" sz="1000" b="1" dirty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47" name="文本框 546">
            <a:extLst>
              <a:ext uri="{FF2B5EF4-FFF2-40B4-BE49-F238E27FC236}">
                <a16:creationId xmlns:a16="http://schemas.microsoft.com/office/drawing/2014/main" id="{2EB414B4-1E41-5349-9D13-64911D9D5D43}"/>
              </a:ext>
            </a:extLst>
          </p:cNvPr>
          <p:cNvSpPr txBox="1"/>
          <p:nvPr/>
        </p:nvSpPr>
        <p:spPr>
          <a:xfrm>
            <a:off x="1346200" y="4127500"/>
            <a:ext cx="1473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900" b="1">
                <a:solidFill>
                  <a:srgbClr val="596A9A"/>
                </a:solidFill>
                <a:latin typeface="Comic Sans MS"/>
              </a:rPr>
              <a:t>Static</a:t>
            </a:r>
            <a:endParaRPr lang="zh-CN" altLang="en-US" sz="900" b="1">
              <a:solidFill>
                <a:srgbClr val="596A9A"/>
              </a:solidFill>
              <a:latin typeface="Comic Sans MS"/>
            </a:endParaRPr>
          </a:p>
        </p:txBody>
      </p:sp>
      <p:sp>
        <p:nvSpPr>
          <p:cNvPr id="548" name="文本框 547">
            <a:extLst>
              <a:ext uri="{FF2B5EF4-FFF2-40B4-BE49-F238E27FC236}">
                <a16:creationId xmlns:a16="http://schemas.microsoft.com/office/drawing/2014/main" id="{692E76CE-5162-7449-B253-0681ED511D2B}"/>
              </a:ext>
            </a:extLst>
          </p:cNvPr>
          <p:cNvSpPr txBox="1"/>
          <p:nvPr/>
        </p:nvSpPr>
        <p:spPr>
          <a:xfrm>
            <a:off x="1346200" y="43307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700" dirty="0">
                <a:solidFill>
                  <a:srgbClr val="30394C"/>
                </a:solidFill>
                <a:latin typeface="Comic Sans MS"/>
              </a:rPr>
              <a:t>demographics · habits ·</a:t>
            </a:r>
            <a:r>
              <a:rPr lang="zh-CN" altLang="en-US" sz="700" dirty="0">
                <a:solidFill>
                  <a:srgbClr val="30394C"/>
                </a:solidFill>
                <a:latin typeface="Comic Sans MS"/>
              </a:rPr>
              <a:t> </a:t>
            </a:r>
            <a:r>
              <a:rPr lang="en" altLang="zh-CN" sz="700" dirty="0">
                <a:solidFill>
                  <a:srgbClr val="30394C"/>
                </a:solidFill>
                <a:latin typeface="Comic Sans MS"/>
              </a:rPr>
              <a:t>location</a:t>
            </a:r>
            <a:endParaRPr lang="zh-CN" altLang="en-US" sz="700" dirty="0">
              <a:solidFill>
                <a:srgbClr val="30394C"/>
              </a:solidFill>
              <a:latin typeface="Comic Sans MS"/>
            </a:endParaRPr>
          </a:p>
        </p:txBody>
      </p:sp>
      <p:sp>
        <p:nvSpPr>
          <p:cNvPr id="549" name="圆角矩形 548">
            <a:extLst>
              <a:ext uri="{FF2B5EF4-FFF2-40B4-BE49-F238E27FC236}">
                <a16:creationId xmlns:a16="http://schemas.microsoft.com/office/drawing/2014/main" id="{6ECD8100-D746-BA4E-A157-29710C3C3AEE}"/>
              </a:ext>
            </a:extLst>
          </p:cNvPr>
          <p:cNvSpPr/>
          <p:nvPr/>
        </p:nvSpPr>
        <p:spPr>
          <a:xfrm>
            <a:off x="850900" y="4699000"/>
            <a:ext cx="2108200" cy="254000"/>
          </a:xfrm>
          <a:prstGeom prst="roundRect">
            <a:avLst/>
          </a:prstGeom>
          <a:solidFill>
            <a:srgbClr val="EEF2FF"/>
          </a:solidFill>
          <a:ln w="10160" cap="flat" cmpd="sng" algn="ctr">
            <a:solidFill>
              <a:srgbClr val="4F46E5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0" name="文本框 549">
            <a:extLst>
              <a:ext uri="{FF2B5EF4-FFF2-40B4-BE49-F238E27FC236}">
                <a16:creationId xmlns:a16="http://schemas.microsoft.com/office/drawing/2014/main" id="{8A13DCD5-ECE9-624D-A7D5-D5CCBD4329C0}"/>
              </a:ext>
            </a:extLst>
          </p:cNvPr>
          <p:cNvSpPr txBox="1"/>
          <p:nvPr/>
        </p:nvSpPr>
        <p:spPr>
          <a:xfrm>
            <a:off x="939800" y="4699000"/>
            <a:ext cx="1930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" altLang="zh-CN" sz="720" b="1">
                <a:solidFill>
                  <a:srgbClr val="1E2A44"/>
                </a:solidFill>
                <a:latin typeface="Comic Sans MS"/>
              </a:rPr>
              <a:t>mask m: availability + validity</a:t>
            </a:r>
            <a:endParaRPr lang="zh-CN" altLang="en-US" sz="720" b="1">
              <a:solidFill>
                <a:srgbClr val="1E2A44"/>
              </a:solidFill>
              <a:latin typeface="Comic Sans MS"/>
            </a:endParaRPr>
          </a:p>
        </p:txBody>
      </p:sp>
      <p:sp>
        <p:nvSpPr>
          <p:cNvPr id="551" name="圆角矩形 550">
            <a:extLst>
              <a:ext uri="{FF2B5EF4-FFF2-40B4-BE49-F238E27FC236}">
                <a16:creationId xmlns:a16="http://schemas.microsoft.com/office/drawing/2014/main" id="{A4FBE328-A8B0-A14F-B881-178BA6C4A29D}"/>
              </a:ext>
            </a:extLst>
          </p:cNvPr>
          <p:cNvSpPr/>
          <p:nvPr/>
        </p:nvSpPr>
        <p:spPr>
          <a:xfrm>
            <a:off x="3606800" y="1663700"/>
            <a:ext cx="2298700" cy="1600200"/>
          </a:xfrm>
          <a:prstGeom prst="roundRect">
            <a:avLst/>
          </a:prstGeom>
          <a:solidFill>
            <a:srgbClr val="EAF2FF"/>
          </a:solidFill>
          <a:ln w="1270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2" name="文本框 551">
            <a:extLst>
              <a:ext uri="{FF2B5EF4-FFF2-40B4-BE49-F238E27FC236}">
                <a16:creationId xmlns:a16="http://schemas.microsoft.com/office/drawing/2014/main" id="{C07CE07A-1AA0-9E46-99CC-7784BE101A14}"/>
              </a:ext>
            </a:extLst>
          </p:cNvPr>
          <p:cNvSpPr txBox="1"/>
          <p:nvPr/>
        </p:nvSpPr>
        <p:spPr>
          <a:xfrm>
            <a:off x="3810000" y="1790700"/>
            <a:ext cx="18923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" altLang="zh-CN" sz="1200" b="1" dirty="0">
                <a:solidFill>
                  <a:srgbClr val="3B82F6"/>
                </a:solidFill>
                <a:latin typeface="Comic Sans MS"/>
              </a:rPr>
              <a:t>GROUP ENCODING</a:t>
            </a:r>
            <a:endParaRPr lang="zh-CN" altLang="en-US" sz="1200" b="1" dirty="0">
              <a:solidFill>
                <a:srgbClr val="3B82F6"/>
              </a:solidFill>
              <a:latin typeface="Comic Sans MS"/>
            </a:endParaRPr>
          </a:p>
        </p:txBody>
      </p:sp>
      <p:sp>
        <p:nvSpPr>
          <p:cNvPr id="553" name="圆角矩形 552">
            <a:extLst>
              <a:ext uri="{FF2B5EF4-FFF2-40B4-BE49-F238E27FC236}">
                <a16:creationId xmlns:a16="http://schemas.microsoft.com/office/drawing/2014/main" id="{ECE4638E-CE67-134F-896A-E57023D6EC03}"/>
              </a:ext>
            </a:extLst>
          </p:cNvPr>
          <p:cNvSpPr/>
          <p:nvPr/>
        </p:nvSpPr>
        <p:spPr>
          <a:xfrm>
            <a:off x="3810000" y="2159000"/>
            <a:ext cx="1892300" cy="3937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4" name="文本框 553">
            <a:extLst>
              <a:ext uri="{FF2B5EF4-FFF2-40B4-BE49-F238E27FC236}">
                <a16:creationId xmlns:a16="http://schemas.microsoft.com/office/drawing/2014/main" id="{CB829F1A-3769-1D4E-9220-9A463788ED9C}"/>
              </a:ext>
            </a:extLst>
          </p:cNvPr>
          <p:cNvSpPr txBox="1"/>
          <p:nvPr/>
        </p:nvSpPr>
        <p:spPr>
          <a:xfrm>
            <a:off x="3898900" y="2209800"/>
            <a:ext cx="17145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" altLang="zh-CN" sz="1000" b="1">
                <a:solidFill>
                  <a:srgbClr val="1E2A44"/>
                </a:solidFill>
                <a:latin typeface="Cambria Math"/>
                <a:ea typeface="Cambria Math"/>
                <a:cs typeface="Courier New"/>
              </a:rPr>
              <a:t>zᵢ = Encᵢ(xᵢ, mᵢ)</a:t>
            </a:r>
            <a:endParaRPr lang="zh-CN" altLang="en-US" sz="1000" b="1">
              <a:solidFill>
                <a:srgbClr val="1E2A44"/>
              </a:solidFill>
              <a:latin typeface="Cambria Math"/>
              <a:cs typeface="Courier New"/>
            </a:endParaRPr>
          </a:p>
        </p:txBody>
      </p:sp>
      <p:sp>
        <p:nvSpPr>
          <p:cNvPr id="555" name="圆角矩形 554">
            <a:extLst>
              <a:ext uri="{FF2B5EF4-FFF2-40B4-BE49-F238E27FC236}">
                <a16:creationId xmlns:a16="http://schemas.microsoft.com/office/drawing/2014/main" id="{B00456F4-6A41-EC4D-A4D3-5E18A5BA54DA}"/>
              </a:ext>
            </a:extLst>
          </p:cNvPr>
          <p:cNvSpPr/>
          <p:nvPr/>
        </p:nvSpPr>
        <p:spPr>
          <a:xfrm>
            <a:off x="3810000" y="2654300"/>
            <a:ext cx="1892300" cy="3937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4F46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6" name="文本框 555">
            <a:extLst>
              <a:ext uri="{FF2B5EF4-FFF2-40B4-BE49-F238E27FC236}">
                <a16:creationId xmlns:a16="http://schemas.microsoft.com/office/drawing/2014/main" id="{C9BF8F8E-4B17-F440-B6F1-774355320C4E}"/>
              </a:ext>
            </a:extLst>
          </p:cNvPr>
          <p:cNvSpPr txBox="1"/>
          <p:nvPr/>
        </p:nvSpPr>
        <p:spPr>
          <a:xfrm>
            <a:off x="3898900" y="2705100"/>
            <a:ext cx="17145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" altLang="zh-CN" sz="1000" b="1">
                <a:solidFill>
                  <a:srgbClr val="4F46E5"/>
                </a:solidFill>
                <a:latin typeface="Cambria Math"/>
                <a:ea typeface="Cambria Math"/>
                <a:cs typeface="Courier New"/>
              </a:rPr>
              <a:t>qᵢ = Qᵢ(mᵢ)</a:t>
            </a:r>
            <a:endParaRPr lang="zh-CN" altLang="en-US" sz="1000" b="1">
              <a:solidFill>
                <a:srgbClr val="4F46E5"/>
              </a:solidFill>
              <a:latin typeface="Cambria Math"/>
              <a:cs typeface="Courier New"/>
            </a:endParaRPr>
          </a:p>
        </p:txBody>
      </p:sp>
      <p:sp>
        <p:nvSpPr>
          <p:cNvPr id="557" name="右箭头 556">
            <a:extLst>
              <a:ext uri="{FF2B5EF4-FFF2-40B4-BE49-F238E27FC236}">
                <a16:creationId xmlns:a16="http://schemas.microsoft.com/office/drawing/2014/main" id="{E4CECA59-C7AD-5C4D-9CD3-94D509635935}"/>
              </a:ext>
            </a:extLst>
          </p:cNvPr>
          <p:cNvSpPr/>
          <p:nvPr/>
        </p:nvSpPr>
        <p:spPr>
          <a:xfrm>
            <a:off x="3175000" y="2844800"/>
            <a:ext cx="406400" cy="304800"/>
          </a:xfrm>
          <a:prstGeom prst="rightArrow">
            <a:avLst/>
          </a:prstGeom>
          <a:solidFill>
            <a:srgbClr val="1E2A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8" name="圆角矩形 557">
            <a:extLst>
              <a:ext uri="{FF2B5EF4-FFF2-40B4-BE49-F238E27FC236}">
                <a16:creationId xmlns:a16="http://schemas.microsoft.com/office/drawing/2014/main" id="{A45132B1-CB05-A64F-A747-A6EDF849FF41}"/>
              </a:ext>
            </a:extLst>
          </p:cNvPr>
          <p:cNvSpPr/>
          <p:nvPr/>
        </p:nvSpPr>
        <p:spPr>
          <a:xfrm>
            <a:off x="3606800" y="3505200"/>
            <a:ext cx="2298700" cy="1689100"/>
          </a:xfrm>
          <a:prstGeom prst="roundRect">
            <a:avLst/>
          </a:prstGeom>
          <a:solidFill>
            <a:srgbClr val="F3E8FF"/>
          </a:solidFill>
          <a:ln w="127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9" name="文本框 558">
            <a:extLst>
              <a:ext uri="{FF2B5EF4-FFF2-40B4-BE49-F238E27FC236}">
                <a16:creationId xmlns:a16="http://schemas.microsoft.com/office/drawing/2014/main" id="{34B763B8-5CB7-A842-8B76-E4709EC00275}"/>
              </a:ext>
            </a:extLst>
          </p:cNvPr>
          <p:cNvSpPr txBox="1"/>
          <p:nvPr/>
        </p:nvSpPr>
        <p:spPr>
          <a:xfrm>
            <a:off x="3718284" y="3632200"/>
            <a:ext cx="2088432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" altLang="zh-CN" sz="1200" b="1" dirty="0">
                <a:solidFill>
                  <a:srgbClr val="7C3AED"/>
                </a:solidFill>
                <a:latin typeface="Comic Sans MS"/>
              </a:rPr>
              <a:t>MASKED QUALITY GATE</a:t>
            </a:r>
            <a:endParaRPr lang="zh-CN" altLang="en-US" sz="1200" b="1" dirty="0">
              <a:solidFill>
                <a:srgbClr val="7C3AED"/>
              </a:solidFill>
              <a:latin typeface="Comic Sans MS"/>
            </a:endParaRPr>
          </a:p>
        </p:txBody>
      </p:sp>
      <p:sp>
        <p:nvSpPr>
          <p:cNvPr id="560" name="圆角矩形 559">
            <a:extLst>
              <a:ext uri="{FF2B5EF4-FFF2-40B4-BE49-F238E27FC236}">
                <a16:creationId xmlns:a16="http://schemas.microsoft.com/office/drawing/2014/main" id="{437AF908-0678-DC4D-8552-078D2305F857}"/>
              </a:ext>
            </a:extLst>
          </p:cNvPr>
          <p:cNvSpPr/>
          <p:nvPr/>
        </p:nvSpPr>
        <p:spPr>
          <a:xfrm>
            <a:off x="3810000" y="3987800"/>
            <a:ext cx="1892300" cy="406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1" name="文本框 560">
            <a:extLst>
              <a:ext uri="{FF2B5EF4-FFF2-40B4-BE49-F238E27FC236}">
                <a16:creationId xmlns:a16="http://schemas.microsoft.com/office/drawing/2014/main" id="{DFB384AE-DB33-3445-848C-C922DBFAE906}"/>
              </a:ext>
            </a:extLst>
          </p:cNvPr>
          <p:cNvSpPr txBox="1"/>
          <p:nvPr/>
        </p:nvSpPr>
        <p:spPr>
          <a:xfrm>
            <a:off x="3911600" y="4051300"/>
            <a:ext cx="16891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l-GR" altLang="zh-CN" sz="950" b="1">
                <a:solidFill>
                  <a:srgbClr val="6D4AFF"/>
                </a:solidFill>
                <a:latin typeface="Cambria Math"/>
                <a:ea typeface="Cambria Math"/>
                <a:cs typeface="Courier New"/>
              </a:rPr>
              <a:t>α</a:t>
            </a:r>
            <a:r>
              <a:rPr lang="en" altLang="zh-CN" sz="950" b="1">
                <a:solidFill>
                  <a:srgbClr val="6D4AFF"/>
                </a:solidFill>
                <a:latin typeface="Cambria Math"/>
                <a:ea typeface="Cambria Math"/>
                <a:cs typeface="Courier New"/>
              </a:rPr>
              <a:t>ᵢ = masked softmax(qᵢ, mᵢ)</a:t>
            </a:r>
            <a:endParaRPr lang="zh-CN" altLang="en-US" sz="950" b="1">
              <a:solidFill>
                <a:srgbClr val="6D4AFF"/>
              </a:solidFill>
              <a:latin typeface="Cambria Math"/>
              <a:cs typeface="Courier New"/>
            </a:endParaRPr>
          </a:p>
        </p:txBody>
      </p:sp>
      <p:sp>
        <p:nvSpPr>
          <p:cNvPr id="570" name="文本框 569">
            <a:extLst>
              <a:ext uri="{FF2B5EF4-FFF2-40B4-BE49-F238E27FC236}">
                <a16:creationId xmlns:a16="http://schemas.microsoft.com/office/drawing/2014/main" id="{D21C6BDB-3501-434A-8C3A-36BFB7E125E2}"/>
              </a:ext>
            </a:extLst>
          </p:cNvPr>
          <p:cNvSpPr txBox="1"/>
          <p:nvPr/>
        </p:nvSpPr>
        <p:spPr>
          <a:xfrm>
            <a:off x="3810000" y="4868576"/>
            <a:ext cx="1892300" cy="30003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r>
              <a:rPr lang="el-GR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α</a:t>
            </a:r>
            <a:r>
              <a:rPr lang="en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ᵢ = modality gate weight
</a:t>
            </a:r>
            <a:r>
              <a:rPr lang="el-GR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α</a:t>
            </a:r>
            <a:r>
              <a:rPr lang="en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ᵢ ≥ 0,  </a:t>
            </a:r>
            <a:r>
              <a:rPr lang="el-GR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Σ</a:t>
            </a:r>
            <a:r>
              <a:rPr lang="en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ᵢ </a:t>
            </a:r>
            <a:r>
              <a:rPr lang="el-GR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α</a:t>
            </a:r>
            <a:r>
              <a:rPr lang="en" altLang="zh-CN" sz="740" b="1" dirty="0">
                <a:solidFill>
                  <a:srgbClr val="4F46E5"/>
                </a:solidFill>
                <a:latin typeface="Cambria Math"/>
                <a:ea typeface="Cambria Math"/>
              </a:rPr>
              <a:t>ᵢ = 1</a:t>
            </a:r>
            <a:endParaRPr lang="zh-CN" altLang="en-US" sz="740" b="1" dirty="0">
              <a:solidFill>
                <a:srgbClr val="4F46E5"/>
              </a:solidFill>
              <a:latin typeface="Cambria Math"/>
            </a:endParaRPr>
          </a:p>
        </p:txBody>
      </p:sp>
      <p:sp>
        <p:nvSpPr>
          <p:cNvPr id="571" name="下箭头 570">
            <a:extLst>
              <a:ext uri="{FF2B5EF4-FFF2-40B4-BE49-F238E27FC236}">
                <a16:creationId xmlns:a16="http://schemas.microsoft.com/office/drawing/2014/main" id="{1CB928A3-1651-4745-8D93-F73B88540F5C}"/>
              </a:ext>
            </a:extLst>
          </p:cNvPr>
          <p:cNvSpPr/>
          <p:nvPr/>
        </p:nvSpPr>
        <p:spPr>
          <a:xfrm>
            <a:off x="4667250" y="3294062"/>
            <a:ext cx="190500" cy="203200"/>
          </a:xfrm>
          <a:prstGeom prst="downArrow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2" name="椭圆 571">
            <a:extLst>
              <a:ext uri="{FF2B5EF4-FFF2-40B4-BE49-F238E27FC236}">
                <a16:creationId xmlns:a16="http://schemas.microsoft.com/office/drawing/2014/main" id="{01353433-8DBE-3149-ABB1-32179F940CB2}"/>
              </a:ext>
            </a:extLst>
          </p:cNvPr>
          <p:cNvSpPr/>
          <p:nvPr/>
        </p:nvSpPr>
        <p:spPr>
          <a:xfrm>
            <a:off x="6362700" y="1943100"/>
            <a:ext cx="2057400" cy="2057400"/>
          </a:xfrm>
          <a:prstGeom prst="ellipse">
            <a:avLst/>
          </a:prstGeom>
          <a:solidFill>
            <a:srgbClr val="EEF2FF"/>
          </a:solidFill>
          <a:ln w="254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3" name="文本框 572">
            <a:extLst>
              <a:ext uri="{FF2B5EF4-FFF2-40B4-BE49-F238E27FC236}">
                <a16:creationId xmlns:a16="http://schemas.microsoft.com/office/drawing/2014/main" id="{2E1A88C0-F2B5-7C40-8CDB-FB4987F7BF2C}"/>
              </a:ext>
            </a:extLst>
          </p:cNvPr>
          <p:cNvSpPr txBox="1"/>
          <p:nvPr/>
        </p:nvSpPr>
        <p:spPr>
          <a:xfrm>
            <a:off x="6642100" y="2336800"/>
            <a:ext cx="1473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ctr"/>
            <a:r>
              <a:rPr lang="en" altLang="zh-CN" sz="950" b="1" dirty="0">
                <a:solidFill>
                  <a:srgbClr val="7C3AED"/>
                </a:solidFill>
                <a:latin typeface="Comic Sans MS"/>
              </a:rPr>
              <a:t>QUALITY-AWARE</a:t>
            </a:r>
            <a:endParaRPr lang="zh-CN" altLang="en-US" sz="950" b="1" dirty="0">
              <a:solidFill>
                <a:srgbClr val="7C3AED"/>
              </a:solidFill>
              <a:latin typeface="Comic Sans MS"/>
            </a:endParaRPr>
          </a:p>
        </p:txBody>
      </p:sp>
      <p:sp>
        <p:nvSpPr>
          <p:cNvPr id="574" name="文本框 573">
            <a:extLst>
              <a:ext uri="{FF2B5EF4-FFF2-40B4-BE49-F238E27FC236}">
                <a16:creationId xmlns:a16="http://schemas.microsoft.com/office/drawing/2014/main" id="{752D9BF9-566A-5343-A846-53B1C66940A4}"/>
              </a:ext>
            </a:extLst>
          </p:cNvPr>
          <p:cNvSpPr txBox="1"/>
          <p:nvPr/>
        </p:nvSpPr>
        <p:spPr>
          <a:xfrm>
            <a:off x="6604000" y="2628900"/>
            <a:ext cx="1549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" altLang="zh-CN" sz="1700" b="1">
                <a:solidFill>
                  <a:srgbClr val="1E2A44"/>
                </a:solidFill>
                <a:latin typeface="Comic Sans MS"/>
              </a:rPr>
              <a:t>FUSION</a:t>
            </a:r>
            <a:endParaRPr lang="zh-CN" altLang="en-US" sz="1700" b="1">
              <a:solidFill>
                <a:srgbClr val="1E2A44"/>
              </a:solidFill>
              <a:latin typeface="Comic Sans MS"/>
            </a:endParaRPr>
          </a:p>
        </p:txBody>
      </p:sp>
      <p:sp>
        <p:nvSpPr>
          <p:cNvPr id="575" name="文本框 574">
            <a:extLst>
              <a:ext uri="{FF2B5EF4-FFF2-40B4-BE49-F238E27FC236}">
                <a16:creationId xmlns:a16="http://schemas.microsoft.com/office/drawing/2014/main" id="{44C56AEC-FC7A-1744-BD93-B4CDFA2A9ACD}"/>
              </a:ext>
            </a:extLst>
          </p:cNvPr>
          <p:cNvSpPr txBox="1"/>
          <p:nvPr/>
        </p:nvSpPr>
        <p:spPr>
          <a:xfrm>
            <a:off x="6591300" y="3035300"/>
            <a:ext cx="1574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" altLang="zh-CN" sz="1100" b="1" dirty="0">
                <a:solidFill>
                  <a:srgbClr val="4F46E5"/>
                </a:solidFill>
                <a:latin typeface="Cambria Math"/>
                <a:ea typeface="Cambria Math"/>
                <a:cs typeface="Courier New"/>
              </a:rPr>
              <a:t>z = </a:t>
            </a:r>
            <a:r>
              <a:rPr lang="el-GR" altLang="zh-CN" sz="1100" b="1" dirty="0">
                <a:solidFill>
                  <a:srgbClr val="4F46E5"/>
                </a:solidFill>
                <a:latin typeface="Cambria Math"/>
                <a:ea typeface="Cambria Math"/>
                <a:cs typeface="Courier New"/>
              </a:rPr>
              <a:t>Σ</a:t>
            </a:r>
            <a:r>
              <a:rPr lang="en" altLang="zh-CN" sz="1100" b="1" dirty="0">
                <a:solidFill>
                  <a:srgbClr val="4F46E5"/>
                </a:solidFill>
                <a:latin typeface="Cambria Math"/>
                <a:ea typeface="Cambria Math"/>
                <a:cs typeface="Courier New"/>
              </a:rPr>
              <a:t>ᵢ </a:t>
            </a:r>
            <a:r>
              <a:rPr lang="el-GR" altLang="zh-CN" sz="1100" b="1" dirty="0">
                <a:solidFill>
                  <a:srgbClr val="4F46E5"/>
                </a:solidFill>
                <a:latin typeface="Cambria Math"/>
                <a:ea typeface="Cambria Math"/>
                <a:cs typeface="Courier New"/>
              </a:rPr>
              <a:t>α</a:t>
            </a:r>
            <a:r>
              <a:rPr lang="en" altLang="zh-CN" sz="1100" b="1" dirty="0">
                <a:solidFill>
                  <a:srgbClr val="4F46E5"/>
                </a:solidFill>
                <a:latin typeface="Cambria Math"/>
                <a:ea typeface="Cambria Math"/>
                <a:cs typeface="Courier New"/>
              </a:rPr>
              <a:t>ᵢ zᵢ</a:t>
            </a:r>
            <a:endParaRPr lang="zh-CN" altLang="en-US" sz="1100" b="1" dirty="0">
              <a:solidFill>
                <a:srgbClr val="4F46E5"/>
              </a:solidFill>
              <a:latin typeface="Cambria Math"/>
              <a:cs typeface="Courier New"/>
            </a:endParaRPr>
          </a:p>
        </p:txBody>
      </p:sp>
      <p:sp>
        <p:nvSpPr>
          <p:cNvPr id="576" name="文本框 575">
            <a:extLst>
              <a:ext uri="{FF2B5EF4-FFF2-40B4-BE49-F238E27FC236}">
                <a16:creationId xmlns:a16="http://schemas.microsoft.com/office/drawing/2014/main" id="{63712FDF-E9CE-864E-ACA8-7792E7BEC078}"/>
              </a:ext>
            </a:extLst>
          </p:cNvPr>
          <p:cNvSpPr txBox="1"/>
          <p:nvPr/>
        </p:nvSpPr>
        <p:spPr>
          <a:xfrm>
            <a:off x="6680200" y="3416300"/>
            <a:ext cx="13970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ctr"/>
            <a:r>
              <a:rPr lang="en" altLang="zh-CN" sz="800" b="1" dirty="0">
                <a:solidFill>
                  <a:srgbClr val="303A52"/>
                </a:solidFill>
                <a:latin typeface="Comic Sans MS"/>
              </a:rPr>
              <a:t>weighted multimodal evidence</a:t>
            </a:r>
            <a:endParaRPr lang="zh-CN" altLang="en-US" sz="800" b="1" dirty="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577" name="右箭头 576">
            <a:extLst>
              <a:ext uri="{FF2B5EF4-FFF2-40B4-BE49-F238E27FC236}">
                <a16:creationId xmlns:a16="http://schemas.microsoft.com/office/drawing/2014/main" id="{A66B1B46-40FE-9545-806B-163C64D0A15F}"/>
              </a:ext>
            </a:extLst>
          </p:cNvPr>
          <p:cNvSpPr/>
          <p:nvPr/>
        </p:nvSpPr>
        <p:spPr>
          <a:xfrm>
            <a:off x="5930900" y="2851150"/>
            <a:ext cx="406400" cy="304800"/>
          </a:xfrm>
          <a:prstGeom prst="rightArrow">
            <a:avLst/>
          </a:prstGeom>
          <a:solidFill>
            <a:srgbClr val="1E2A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8" name="圆角矩形 577">
            <a:extLst>
              <a:ext uri="{FF2B5EF4-FFF2-40B4-BE49-F238E27FC236}">
                <a16:creationId xmlns:a16="http://schemas.microsoft.com/office/drawing/2014/main" id="{E45D0625-E98F-8A43-ACB5-8BF00F4F1AA6}"/>
              </a:ext>
            </a:extLst>
          </p:cNvPr>
          <p:cNvSpPr/>
          <p:nvPr/>
        </p:nvSpPr>
        <p:spPr>
          <a:xfrm>
            <a:off x="8844832" y="1555750"/>
            <a:ext cx="2628900" cy="3517900"/>
          </a:xfrm>
          <a:prstGeom prst="roundRect">
            <a:avLst/>
          </a:prstGeom>
          <a:solidFill>
            <a:srgbClr val="FAFBFF"/>
          </a:solidFill>
          <a:ln w="127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9" name="文本框 578">
            <a:extLst>
              <a:ext uri="{FF2B5EF4-FFF2-40B4-BE49-F238E27FC236}">
                <a16:creationId xmlns:a16="http://schemas.microsoft.com/office/drawing/2014/main" id="{79F765D1-D547-5349-A1D4-D989C3B94D9B}"/>
              </a:ext>
            </a:extLst>
          </p:cNvPr>
          <p:cNvSpPr txBox="1"/>
          <p:nvPr/>
        </p:nvSpPr>
        <p:spPr>
          <a:xfrm>
            <a:off x="9067800" y="1676400"/>
            <a:ext cx="21971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" altLang="zh-CN" sz="1000" b="1">
                <a:solidFill>
                  <a:srgbClr val="7C3AED"/>
                </a:solidFill>
                <a:latin typeface="Comic Sans MS"/>
              </a:rPr>
              <a:t>PREDICTION + CONTROL</a:t>
            </a:r>
            <a:endParaRPr lang="zh-CN" altLang="en-US" sz="1000" b="1">
              <a:solidFill>
                <a:srgbClr val="7C3AED"/>
              </a:solidFill>
              <a:latin typeface="Comic Sans MS"/>
            </a:endParaRPr>
          </a:p>
        </p:txBody>
      </p:sp>
      <p:sp>
        <p:nvSpPr>
          <p:cNvPr id="580" name="圆角矩形 579">
            <a:extLst>
              <a:ext uri="{FF2B5EF4-FFF2-40B4-BE49-F238E27FC236}">
                <a16:creationId xmlns:a16="http://schemas.microsoft.com/office/drawing/2014/main" id="{015A4AF4-D4D2-9540-8048-36B338054713}"/>
              </a:ext>
            </a:extLst>
          </p:cNvPr>
          <p:cNvSpPr/>
          <p:nvPr/>
        </p:nvSpPr>
        <p:spPr>
          <a:xfrm>
            <a:off x="9093200" y="2095500"/>
            <a:ext cx="2146300" cy="457200"/>
          </a:xfrm>
          <a:prstGeom prst="roundRect">
            <a:avLst/>
          </a:prstGeom>
          <a:solidFill>
            <a:srgbClr val="EEF2FF"/>
          </a:solidFill>
          <a:ln w="11430" cap="flat" cmpd="sng" algn="ctr">
            <a:solidFill>
              <a:srgbClr val="4F46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1" name="菱形 580">
            <a:extLst>
              <a:ext uri="{FF2B5EF4-FFF2-40B4-BE49-F238E27FC236}">
                <a16:creationId xmlns:a16="http://schemas.microsoft.com/office/drawing/2014/main" id="{D34C164F-5395-554F-98CA-75FC77F6E0B9}"/>
              </a:ext>
            </a:extLst>
          </p:cNvPr>
          <p:cNvSpPr/>
          <p:nvPr/>
        </p:nvSpPr>
        <p:spPr>
          <a:xfrm>
            <a:off x="9194800" y="2197100"/>
            <a:ext cx="254000" cy="254000"/>
          </a:xfrm>
          <a:prstGeom prst="diamond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2" name="文本框 581">
            <a:extLst>
              <a:ext uri="{FF2B5EF4-FFF2-40B4-BE49-F238E27FC236}">
                <a16:creationId xmlns:a16="http://schemas.microsoft.com/office/drawing/2014/main" id="{9FED3345-E510-E049-974B-F0287FDDF117}"/>
              </a:ext>
            </a:extLst>
          </p:cNvPr>
          <p:cNvSpPr txBox="1"/>
          <p:nvPr/>
        </p:nvSpPr>
        <p:spPr>
          <a:xfrm>
            <a:off x="9194800" y="21971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zh-CN" sz="700" b="1">
                <a:solidFill>
                  <a:srgbClr val="FFFFFF"/>
                </a:solidFill>
                <a:latin typeface="Comic Sans MS"/>
              </a:rPr>
              <a:t>1</a:t>
            </a:r>
            <a:endParaRPr lang="zh-CN" altLang="en-US" sz="700" b="1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83" name="文本框 582">
            <a:extLst>
              <a:ext uri="{FF2B5EF4-FFF2-40B4-BE49-F238E27FC236}">
                <a16:creationId xmlns:a16="http://schemas.microsoft.com/office/drawing/2014/main" id="{6538BCC9-6D7E-5642-86F0-B0A098773383}"/>
              </a:ext>
            </a:extLst>
          </p:cNvPr>
          <p:cNvSpPr txBox="1"/>
          <p:nvPr/>
        </p:nvSpPr>
        <p:spPr>
          <a:xfrm>
            <a:off x="9537700" y="2120900"/>
            <a:ext cx="15748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870" b="1">
                <a:solidFill>
                  <a:srgbClr val="4F46E5"/>
                </a:solidFill>
                <a:latin typeface="Comic Sans MS"/>
              </a:rPr>
              <a:t>Classifier</a:t>
            </a:r>
            <a:endParaRPr lang="zh-CN" altLang="en-US" sz="870" b="1">
              <a:solidFill>
                <a:srgbClr val="4F46E5"/>
              </a:solidFill>
              <a:latin typeface="Comic Sans MS"/>
            </a:endParaRPr>
          </a:p>
        </p:txBody>
      </p:sp>
      <p:sp>
        <p:nvSpPr>
          <p:cNvPr id="584" name="文本框 583">
            <a:extLst>
              <a:ext uri="{FF2B5EF4-FFF2-40B4-BE49-F238E27FC236}">
                <a16:creationId xmlns:a16="http://schemas.microsoft.com/office/drawing/2014/main" id="{9F588094-5408-1E47-BE5E-01BBC2BEFCE9}"/>
              </a:ext>
            </a:extLst>
          </p:cNvPr>
          <p:cNvSpPr txBox="1"/>
          <p:nvPr/>
        </p:nvSpPr>
        <p:spPr>
          <a:xfrm>
            <a:off x="9537700" y="2324100"/>
            <a:ext cx="157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l"/>
            <a:r>
              <a:rPr lang="en" altLang="zh-CN" sz="800">
                <a:solidFill>
                  <a:srgbClr val="303A52"/>
                </a:solidFill>
                <a:latin typeface="Cambria Math"/>
                <a:ea typeface="Cambria Math"/>
                <a:cs typeface="Courier New"/>
              </a:rPr>
              <a:t>logits = f(z, cₕ)</a:t>
            </a:r>
            <a:endParaRPr lang="zh-CN" altLang="en-US" sz="800">
              <a:solidFill>
                <a:srgbClr val="303A52"/>
              </a:solidFill>
              <a:latin typeface="Cambria Math"/>
              <a:cs typeface="Courier New"/>
            </a:endParaRPr>
          </a:p>
        </p:txBody>
      </p:sp>
      <p:sp>
        <p:nvSpPr>
          <p:cNvPr id="585" name="下箭头 584">
            <a:extLst>
              <a:ext uri="{FF2B5EF4-FFF2-40B4-BE49-F238E27FC236}">
                <a16:creationId xmlns:a16="http://schemas.microsoft.com/office/drawing/2014/main" id="{93B10D4E-EE8F-3340-9411-8A55B8AD6DDC}"/>
              </a:ext>
            </a:extLst>
          </p:cNvPr>
          <p:cNvSpPr/>
          <p:nvPr/>
        </p:nvSpPr>
        <p:spPr>
          <a:xfrm>
            <a:off x="10071100" y="2552700"/>
            <a:ext cx="177800" cy="114300"/>
          </a:xfrm>
          <a:prstGeom prst="downArrow">
            <a:avLst/>
          </a:prstGeom>
          <a:solidFill>
            <a:srgbClr val="C7D2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6" name="圆角矩形 585">
            <a:extLst>
              <a:ext uri="{FF2B5EF4-FFF2-40B4-BE49-F238E27FC236}">
                <a16:creationId xmlns:a16="http://schemas.microsoft.com/office/drawing/2014/main" id="{FC81DD98-8031-B946-A6D0-AF77DEDA7B1E}"/>
              </a:ext>
            </a:extLst>
          </p:cNvPr>
          <p:cNvSpPr/>
          <p:nvPr/>
        </p:nvSpPr>
        <p:spPr>
          <a:xfrm>
            <a:off x="9093200" y="2679700"/>
            <a:ext cx="2146300" cy="457200"/>
          </a:xfrm>
          <a:prstGeom prst="roundRect">
            <a:avLst/>
          </a:prstGeom>
          <a:solidFill>
            <a:srgbClr val="EAF2FF"/>
          </a:solidFill>
          <a:ln w="1143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7" name="菱形 586">
            <a:extLst>
              <a:ext uri="{FF2B5EF4-FFF2-40B4-BE49-F238E27FC236}">
                <a16:creationId xmlns:a16="http://schemas.microsoft.com/office/drawing/2014/main" id="{E322F562-59E1-DD41-A8D1-9DD7394729CB}"/>
              </a:ext>
            </a:extLst>
          </p:cNvPr>
          <p:cNvSpPr/>
          <p:nvPr/>
        </p:nvSpPr>
        <p:spPr>
          <a:xfrm>
            <a:off x="9194800" y="2781300"/>
            <a:ext cx="254000" cy="254000"/>
          </a:xfrm>
          <a:prstGeom prst="diamond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8" name="文本框 587">
            <a:extLst>
              <a:ext uri="{FF2B5EF4-FFF2-40B4-BE49-F238E27FC236}">
                <a16:creationId xmlns:a16="http://schemas.microsoft.com/office/drawing/2014/main" id="{14E1F172-B31A-9A4A-AC4E-33F27CB2D524}"/>
              </a:ext>
            </a:extLst>
          </p:cNvPr>
          <p:cNvSpPr txBox="1"/>
          <p:nvPr/>
        </p:nvSpPr>
        <p:spPr>
          <a:xfrm>
            <a:off x="9194800" y="27813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zh-CN" sz="700" b="1">
                <a:solidFill>
                  <a:srgbClr val="FFFFFF"/>
                </a:solidFill>
                <a:latin typeface="Comic Sans MS"/>
              </a:rPr>
              <a:t>2</a:t>
            </a:r>
            <a:endParaRPr lang="zh-CN" altLang="en-US" sz="700" b="1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89" name="文本框 588">
            <a:extLst>
              <a:ext uri="{FF2B5EF4-FFF2-40B4-BE49-F238E27FC236}">
                <a16:creationId xmlns:a16="http://schemas.microsoft.com/office/drawing/2014/main" id="{6D6DA4AC-9750-9F44-8FBB-7321B4D64B3D}"/>
              </a:ext>
            </a:extLst>
          </p:cNvPr>
          <p:cNvSpPr txBox="1"/>
          <p:nvPr/>
        </p:nvSpPr>
        <p:spPr>
          <a:xfrm>
            <a:off x="9537700" y="2705100"/>
            <a:ext cx="15748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870" b="1">
                <a:solidFill>
                  <a:srgbClr val="3B82F6"/>
                </a:solidFill>
                <a:latin typeface="Comic Sans MS"/>
              </a:rPr>
              <a:t>3-class probability</a:t>
            </a:r>
            <a:endParaRPr lang="zh-CN" altLang="en-US" sz="870" b="1">
              <a:solidFill>
                <a:srgbClr val="3B82F6"/>
              </a:solidFill>
              <a:latin typeface="Comic Sans MS"/>
            </a:endParaRPr>
          </a:p>
        </p:txBody>
      </p:sp>
      <p:sp>
        <p:nvSpPr>
          <p:cNvPr id="590" name="文本框 589">
            <a:extLst>
              <a:ext uri="{FF2B5EF4-FFF2-40B4-BE49-F238E27FC236}">
                <a16:creationId xmlns:a16="http://schemas.microsoft.com/office/drawing/2014/main" id="{3B2A6F31-8512-8845-A55C-E437F2E3BD52}"/>
              </a:ext>
            </a:extLst>
          </p:cNvPr>
          <p:cNvSpPr txBox="1"/>
          <p:nvPr/>
        </p:nvSpPr>
        <p:spPr>
          <a:xfrm>
            <a:off x="9537700" y="2908300"/>
            <a:ext cx="157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680">
                <a:solidFill>
                  <a:srgbClr val="303A52"/>
                </a:solidFill>
                <a:latin typeface="Comic Sans MS"/>
              </a:rPr>
              <a:t>Cooler · No change · Warmer</a:t>
            </a:r>
            <a:endParaRPr lang="zh-CN" altLang="en-US" sz="68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591" name="下箭头 590">
            <a:extLst>
              <a:ext uri="{FF2B5EF4-FFF2-40B4-BE49-F238E27FC236}">
                <a16:creationId xmlns:a16="http://schemas.microsoft.com/office/drawing/2014/main" id="{7DDFFFE6-B4E1-3D49-86BD-4B3B70299633}"/>
              </a:ext>
            </a:extLst>
          </p:cNvPr>
          <p:cNvSpPr/>
          <p:nvPr/>
        </p:nvSpPr>
        <p:spPr>
          <a:xfrm>
            <a:off x="10071100" y="3136900"/>
            <a:ext cx="177800" cy="114300"/>
          </a:xfrm>
          <a:prstGeom prst="downArrow">
            <a:avLst/>
          </a:prstGeom>
          <a:solidFill>
            <a:srgbClr val="C7D2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2" name="圆角矩形 591">
            <a:extLst>
              <a:ext uri="{FF2B5EF4-FFF2-40B4-BE49-F238E27FC236}">
                <a16:creationId xmlns:a16="http://schemas.microsoft.com/office/drawing/2014/main" id="{9C8537E1-4C7D-9A47-8EDD-89BC73021565}"/>
              </a:ext>
            </a:extLst>
          </p:cNvPr>
          <p:cNvSpPr/>
          <p:nvPr/>
        </p:nvSpPr>
        <p:spPr>
          <a:xfrm>
            <a:off x="9093200" y="3263900"/>
            <a:ext cx="2146300" cy="457200"/>
          </a:xfrm>
          <a:prstGeom prst="roundRect">
            <a:avLst/>
          </a:prstGeom>
          <a:solidFill>
            <a:srgbClr val="F3E8FF"/>
          </a:solidFill>
          <a:ln w="1143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3" name="菱形 592">
            <a:extLst>
              <a:ext uri="{FF2B5EF4-FFF2-40B4-BE49-F238E27FC236}">
                <a16:creationId xmlns:a16="http://schemas.microsoft.com/office/drawing/2014/main" id="{7C83B1DF-9AE7-354E-8A28-78C78BE81DA3}"/>
              </a:ext>
            </a:extLst>
          </p:cNvPr>
          <p:cNvSpPr/>
          <p:nvPr/>
        </p:nvSpPr>
        <p:spPr>
          <a:xfrm>
            <a:off x="9194800" y="3365500"/>
            <a:ext cx="254000" cy="254000"/>
          </a:xfrm>
          <a:prstGeom prst="diamond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4" name="文本框 593">
            <a:extLst>
              <a:ext uri="{FF2B5EF4-FFF2-40B4-BE49-F238E27FC236}">
                <a16:creationId xmlns:a16="http://schemas.microsoft.com/office/drawing/2014/main" id="{6B638361-7698-1E4B-899C-15A02ACE3C71}"/>
              </a:ext>
            </a:extLst>
          </p:cNvPr>
          <p:cNvSpPr txBox="1"/>
          <p:nvPr/>
        </p:nvSpPr>
        <p:spPr>
          <a:xfrm>
            <a:off x="9194800" y="33655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zh-CN" sz="700" b="1">
                <a:solidFill>
                  <a:srgbClr val="FFFFFF"/>
                </a:solidFill>
                <a:latin typeface="Comic Sans MS"/>
              </a:rPr>
              <a:t>3</a:t>
            </a:r>
            <a:endParaRPr lang="zh-CN" altLang="en-US" sz="700" b="1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595" name="文本框 594">
            <a:extLst>
              <a:ext uri="{FF2B5EF4-FFF2-40B4-BE49-F238E27FC236}">
                <a16:creationId xmlns:a16="http://schemas.microsoft.com/office/drawing/2014/main" id="{BD88D13F-90E9-014D-92FD-D80D6D170CEF}"/>
              </a:ext>
            </a:extLst>
          </p:cNvPr>
          <p:cNvSpPr txBox="1"/>
          <p:nvPr/>
        </p:nvSpPr>
        <p:spPr>
          <a:xfrm>
            <a:off x="9537700" y="3289300"/>
            <a:ext cx="15748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870" b="1">
                <a:solidFill>
                  <a:srgbClr val="7C3AED"/>
                </a:solidFill>
                <a:latin typeface="Comic Sans MS"/>
              </a:rPr>
              <a:t>Confidence cap</a:t>
            </a:r>
            <a:endParaRPr lang="zh-CN" altLang="en-US" sz="870" b="1">
              <a:solidFill>
                <a:srgbClr val="7C3AED"/>
              </a:solidFill>
              <a:latin typeface="Comic Sans MS"/>
            </a:endParaRPr>
          </a:p>
        </p:txBody>
      </p:sp>
      <p:sp>
        <p:nvSpPr>
          <p:cNvPr id="596" name="文本框 595">
            <a:extLst>
              <a:ext uri="{FF2B5EF4-FFF2-40B4-BE49-F238E27FC236}">
                <a16:creationId xmlns:a16="http://schemas.microsoft.com/office/drawing/2014/main" id="{174E5DC6-3015-8C4D-9990-49F995A2BD93}"/>
              </a:ext>
            </a:extLst>
          </p:cNvPr>
          <p:cNvSpPr txBox="1"/>
          <p:nvPr/>
        </p:nvSpPr>
        <p:spPr>
          <a:xfrm>
            <a:off x="9537700" y="3492500"/>
            <a:ext cx="157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l"/>
            <a:r>
              <a:rPr lang="en" altLang="zh-CN" sz="800">
                <a:solidFill>
                  <a:srgbClr val="303A52"/>
                </a:solidFill>
                <a:latin typeface="Cambria Math"/>
                <a:ea typeface="Cambria Math"/>
                <a:cs typeface="Courier New"/>
              </a:rPr>
              <a:t>c ≤ cap(m, q)</a:t>
            </a:r>
            <a:endParaRPr lang="zh-CN" altLang="en-US" sz="800">
              <a:solidFill>
                <a:srgbClr val="303A52"/>
              </a:solidFill>
              <a:latin typeface="Cambria Math"/>
              <a:cs typeface="Courier New"/>
            </a:endParaRPr>
          </a:p>
        </p:txBody>
      </p:sp>
      <p:sp>
        <p:nvSpPr>
          <p:cNvPr id="597" name="下箭头 596">
            <a:extLst>
              <a:ext uri="{FF2B5EF4-FFF2-40B4-BE49-F238E27FC236}">
                <a16:creationId xmlns:a16="http://schemas.microsoft.com/office/drawing/2014/main" id="{CE69946E-D3A0-3A4B-AD08-BD0981BEA834}"/>
              </a:ext>
            </a:extLst>
          </p:cNvPr>
          <p:cNvSpPr/>
          <p:nvPr/>
        </p:nvSpPr>
        <p:spPr>
          <a:xfrm>
            <a:off x="10071100" y="3721100"/>
            <a:ext cx="177800" cy="114300"/>
          </a:xfrm>
          <a:prstGeom prst="downArrow">
            <a:avLst/>
          </a:prstGeom>
          <a:solidFill>
            <a:srgbClr val="C7D2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8" name="圆角矩形 597">
            <a:extLst>
              <a:ext uri="{FF2B5EF4-FFF2-40B4-BE49-F238E27FC236}">
                <a16:creationId xmlns:a16="http://schemas.microsoft.com/office/drawing/2014/main" id="{EEAE1998-00D0-AE49-A2D1-49A28EA6662D}"/>
              </a:ext>
            </a:extLst>
          </p:cNvPr>
          <p:cNvSpPr/>
          <p:nvPr/>
        </p:nvSpPr>
        <p:spPr>
          <a:xfrm>
            <a:off x="9093200" y="3848100"/>
            <a:ext cx="2146300" cy="457200"/>
          </a:xfrm>
          <a:prstGeom prst="roundRect">
            <a:avLst/>
          </a:prstGeom>
          <a:solidFill>
            <a:srgbClr val="F0F3FA"/>
          </a:solidFill>
          <a:ln w="11430" cap="flat" cmpd="sng" algn="ctr">
            <a:solidFill>
              <a:srgbClr val="596A9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9" name="六边形 598">
            <a:extLst>
              <a:ext uri="{FF2B5EF4-FFF2-40B4-BE49-F238E27FC236}">
                <a16:creationId xmlns:a16="http://schemas.microsoft.com/office/drawing/2014/main" id="{05D09273-F0B9-6344-9B02-AD8FC381E771}"/>
              </a:ext>
            </a:extLst>
          </p:cNvPr>
          <p:cNvSpPr/>
          <p:nvPr/>
        </p:nvSpPr>
        <p:spPr>
          <a:xfrm>
            <a:off x="9194800" y="3949700"/>
            <a:ext cx="254000" cy="254000"/>
          </a:xfrm>
          <a:prstGeom prst="hexagon">
            <a:avLst/>
          </a:prstGeom>
          <a:solidFill>
            <a:srgbClr val="596A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36FAC3AD-608F-C940-AB03-AE45E456A0C0}"/>
              </a:ext>
            </a:extLst>
          </p:cNvPr>
          <p:cNvSpPr txBox="1"/>
          <p:nvPr/>
        </p:nvSpPr>
        <p:spPr>
          <a:xfrm>
            <a:off x="9194800" y="39497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zh-CN" sz="700" b="1">
                <a:solidFill>
                  <a:srgbClr val="FFFFFF"/>
                </a:solidFill>
                <a:latin typeface="Comic Sans MS"/>
              </a:rPr>
              <a:t>4</a:t>
            </a:r>
            <a:endParaRPr lang="zh-CN" altLang="en-US" sz="700" b="1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601" name="文本框 600">
            <a:extLst>
              <a:ext uri="{FF2B5EF4-FFF2-40B4-BE49-F238E27FC236}">
                <a16:creationId xmlns:a16="http://schemas.microsoft.com/office/drawing/2014/main" id="{25F3282B-830C-EB49-BAB4-E344AE2BCDF3}"/>
              </a:ext>
            </a:extLst>
          </p:cNvPr>
          <p:cNvSpPr txBox="1"/>
          <p:nvPr/>
        </p:nvSpPr>
        <p:spPr>
          <a:xfrm>
            <a:off x="9537700" y="3873500"/>
            <a:ext cx="15748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870" b="1">
                <a:solidFill>
                  <a:srgbClr val="596A9A"/>
                </a:solidFill>
                <a:latin typeface="Comic Sans MS"/>
              </a:rPr>
              <a:t>Safety mapper</a:t>
            </a:r>
            <a:endParaRPr lang="zh-CN" altLang="en-US" sz="870" b="1">
              <a:solidFill>
                <a:srgbClr val="596A9A"/>
              </a:solidFill>
              <a:latin typeface="Comic Sans MS"/>
            </a:endParaRPr>
          </a:p>
        </p:txBody>
      </p:sp>
      <p:sp>
        <p:nvSpPr>
          <p:cNvPr id="602" name="文本框 601">
            <a:extLst>
              <a:ext uri="{FF2B5EF4-FFF2-40B4-BE49-F238E27FC236}">
                <a16:creationId xmlns:a16="http://schemas.microsoft.com/office/drawing/2014/main" id="{C00C8578-2D1B-B342-9E2C-E7C5AADA0E81}"/>
              </a:ext>
            </a:extLst>
          </p:cNvPr>
          <p:cNvSpPr txBox="1"/>
          <p:nvPr/>
        </p:nvSpPr>
        <p:spPr>
          <a:xfrm>
            <a:off x="9537700" y="4076700"/>
            <a:ext cx="157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680">
                <a:solidFill>
                  <a:srgbClr val="303A52"/>
                </a:solidFill>
                <a:latin typeface="Comic Sans MS"/>
              </a:rPr>
              <a:t>≤ 2 actions or abstain / escalate</a:t>
            </a:r>
            <a:endParaRPr lang="zh-CN" altLang="en-US" sz="68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603" name="右箭头 602">
            <a:extLst>
              <a:ext uri="{FF2B5EF4-FFF2-40B4-BE49-F238E27FC236}">
                <a16:creationId xmlns:a16="http://schemas.microsoft.com/office/drawing/2014/main" id="{95568179-7CFE-184D-ABF0-6AD2415802B1}"/>
              </a:ext>
            </a:extLst>
          </p:cNvPr>
          <p:cNvSpPr/>
          <p:nvPr/>
        </p:nvSpPr>
        <p:spPr>
          <a:xfrm>
            <a:off x="8452568" y="2844800"/>
            <a:ext cx="406400" cy="304800"/>
          </a:xfrm>
          <a:prstGeom prst="rightArrow">
            <a:avLst/>
          </a:prstGeom>
          <a:solidFill>
            <a:srgbClr val="1E2A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4" name="圆角矩形 603">
            <a:extLst>
              <a:ext uri="{FF2B5EF4-FFF2-40B4-BE49-F238E27FC236}">
                <a16:creationId xmlns:a16="http://schemas.microsoft.com/office/drawing/2014/main" id="{15450A85-8C2D-A047-966C-74EB1ADFCCD6}"/>
              </a:ext>
            </a:extLst>
          </p:cNvPr>
          <p:cNvSpPr/>
          <p:nvPr/>
        </p:nvSpPr>
        <p:spPr>
          <a:xfrm>
            <a:off x="9093200" y="4419600"/>
            <a:ext cx="2146300" cy="546100"/>
          </a:xfrm>
          <a:prstGeom prst="roundRect">
            <a:avLst/>
          </a:prstGeom>
          <a:solidFill>
            <a:srgbClr val="1E2A44"/>
          </a:solidFill>
          <a:ln w="11430" cap="flat" cmpd="sng" algn="ctr">
            <a:solidFill>
              <a:srgbClr val="1B28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rmAutofit/>
          </a:bodyPr>
          <a:lstStyle/>
          <a:p>
            <a:pPr algn="l"/>
            <a:endParaRPr lang="zh-CN" altLang="en-US" sz="650" b="1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607" name="圆角矩形 606">
            <a:extLst>
              <a:ext uri="{FF2B5EF4-FFF2-40B4-BE49-F238E27FC236}">
                <a16:creationId xmlns:a16="http://schemas.microsoft.com/office/drawing/2014/main" id="{7DF89F4F-7497-5844-8CE0-725E0ECB59FC}"/>
              </a:ext>
            </a:extLst>
          </p:cNvPr>
          <p:cNvSpPr/>
          <p:nvPr/>
        </p:nvSpPr>
        <p:spPr>
          <a:xfrm>
            <a:off x="6172200" y="4292600"/>
            <a:ext cx="2235200" cy="736600"/>
          </a:xfrm>
          <a:prstGeom prst="roundRect">
            <a:avLst/>
          </a:prstGeom>
          <a:solidFill>
            <a:srgbClr val="EEF2FF"/>
          </a:solidFill>
          <a:ln w="12700" cap="flat" cmpd="sng" algn="ctr">
            <a:solidFill>
              <a:srgbClr val="4F46E5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8" name="文本框 607">
            <a:extLst>
              <a:ext uri="{FF2B5EF4-FFF2-40B4-BE49-F238E27FC236}">
                <a16:creationId xmlns:a16="http://schemas.microsoft.com/office/drawing/2014/main" id="{7766BB1D-4711-C245-AF0E-6EB76DE8E22A}"/>
              </a:ext>
            </a:extLst>
          </p:cNvPr>
          <p:cNvSpPr txBox="1"/>
          <p:nvPr/>
        </p:nvSpPr>
        <p:spPr>
          <a:xfrm>
            <a:off x="6337300" y="4368800"/>
            <a:ext cx="1905000" cy="190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" altLang="zh-CN" sz="850" b="1" dirty="0">
                <a:solidFill>
                  <a:srgbClr val="4F46E5"/>
                </a:solidFill>
                <a:latin typeface="Comic Sans MS"/>
              </a:rPr>
              <a:t>STRICTLY-PRIOR HISTORY</a:t>
            </a:r>
            <a:endParaRPr lang="zh-CN" altLang="en-US" sz="850" b="1" dirty="0">
              <a:solidFill>
                <a:srgbClr val="4F46E5"/>
              </a:solidFill>
              <a:latin typeface="Comic Sans MS"/>
            </a:endParaRPr>
          </a:p>
        </p:txBody>
      </p:sp>
      <p:sp>
        <p:nvSpPr>
          <p:cNvPr id="609" name="文本框 608">
            <a:extLst>
              <a:ext uri="{FF2B5EF4-FFF2-40B4-BE49-F238E27FC236}">
                <a16:creationId xmlns:a16="http://schemas.microsoft.com/office/drawing/2014/main" id="{89FF1F99-BD36-E840-8227-4E1C5CA09E0D}"/>
              </a:ext>
            </a:extLst>
          </p:cNvPr>
          <p:cNvSpPr txBox="1"/>
          <p:nvPr/>
        </p:nvSpPr>
        <p:spPr>
          <a:xfrm>
            <a:off x="6311900" y="4597400"/>
            <a:ext cx="19558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ctr"/>
            <a:r>
              <a:rPr lang="en" altLang="zh-CN" sz="820" b="1" dirty="0">
                <a:solidFill>
                  <a:srgbClr val="303A52"/>
                </a:solidFill>
                <a:latin typeface="Cambria Math"/>
                <a:ea typeface="Cambria Math"/>
                <a:cs typeface="Courier New"/>
              </a:rPr>
              <a:t>cₕ: earlier votes only
k = 0 / 1 / 3 / 5</a:t>
            </a:r>
            <a:endParaRPr lang="zh-CN" altLang="en-US" sz="820" b="1" dirty="0">
              <a:solidFill>
                <a:srgbClr val="303A52"/>
              </a:solidFill>
              <a:latin typeface="Cambria Math"/>
              <a:cs typeface="Courier New"/>
            </a:endParaRPr>
          </a:p>
        </p:txBody>
      </p:sp>
      <p:sp>
        <p:nvSpPr>
          <p:cNvPr id="610" name="矩形 609">
            <a:extLst>
              <a:ext uri="{FF2B5EF4-FFF2-40B4-BE49-F238E27FC236}">
                <a16:creationId xmlns:a16="http://schemas.microsoft.com/office/drawing/2014/main" id="{F693FC5E-0750-A140-B2F8-576D0955325E}"/>
              </a:ext>
            </a:extLst>
          </p:cNvPr>
          <p:cNvSpPr/>
          <p:nvPr/>
        </p:nvSpPr>
        <p:spPr>
          <a:xfrm>
            <a:off x="8420100" y="4610100"/>
            <a:ext cx="27940" cy="2032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11" name="矩形 610">
            <a:extLst>
              <a:ext uri="{FF2B5EF4-FFF2-40B4-BE49-F238E27FC236}">
                <a16:creationId xmlns:a16="http://schemas.microsoft.com/office/drawing/2014/main" id="{F1E60F8A-9547-9546-BA05-A6CDBEE12C6C}"/>
              </a:ext>
            </a:extLst>
          </p:cNvPr>
          <p:cNvSpPr/>
          <p:nvPr/>
        </p:nvSpPr>
        <p:spPr>
          <a:xfrm>
            <a:off x="8470900" y="4610100"/>
            <a:ext cx="27940" cy="2032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12" name="矩形 611">
            <a:extLst>
              <a:ext uri="{FF2B5EF4-FFF2-40B4-BE49-F238E27FC236}">
                <a16:creationId xmlns:a16="http://schemas.microsoft.com/office/drawing/2014/main" id="{BED8A693-CC3F-6941-A2A5-88CD80DC58B7}"/>
              </a:ext>
            </a:extLst>
          </p:cNvPr>
          <p:cNvSpPr/>
          <p:nvPr/>
        </p:nvSpPr>
        <p:spPr>
          <a:xfrm>
            <a:off x="8521700" y="4610100"/>
            <a:ext cx="27940" cy="2032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13" name="矩形 612">
            <a:extLst>
              <a:ext uri="{FF2B5EF4-FFF2-40B4-BE49-F238E27FC236}">
                <a16:creationId xmlns:a16="http://schemas.microsoft.com/office/drawing/2014/main" id="{EFFA83E9-1500-6B44-B3FE-81C20A8D8E97}"/>
              </a:ext>
            </a:extLst>
          </p:cNvPr>
          <p:cNvSpPr/>
          <p:nvPr/>
        </p:nvSpPr>
        <p:spPr>
          <a:xfrm>
            <a:off x="8572500" y="4610100"/>
            <a:ext cx="27940" cy="2032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DCA5582F-788A-A84E-9690-0746ED1A19D5}"/>
              </a:ext>
            </a:extLst>
          </p:cNvPr>
          <p:cNvSpPr/>
          <p:nvPr/>
        </p:nvSpPr>
        <p:spPr>
          <a:xfrm>
            <a:off x="8623300" y="4610100"/>
            <a:ext cx="27940" cy="2032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3" name="圆角矩形 622">
            <a:extLst>
              <a:ext uri="{FF2B5EF4-FFF2-40B4-BE49-F238E27FC236}">
                <a16:creationId xmlns:a16="http://schemas.microsoft.com/office/drawing/2014/main" id="{5CEBCF29-8169-2A4D-A36C-37403BFFD448}"/>
              </a:ext>
            </a:extLst>
          </p:cNvPr>
          <p:cNvSpPr/>
          <p:nvPr/>
        </p:nvSpPr>
        <p:spPr>
          <a:xfrm>
            <a:off x="660400" y="5397500"/>
            <a:ext cx="10820400" cy="698500"/>
          </a:xfrm>
          <a:prstGeom prst="roundRect">
            <a:avLst/>
          </a:prstGeom>
          <a:solidFill>
            <a:srgbClr val="FAFBFF"/>
          </a:solidFill>
          <a:ln w="10160" cap="flat" cmpd="sng" algn="ctr">
            <a:solidFill>
              <a:srgbClr val="C7D2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4" name="文本框 623">
            <a:extLst>
              <a:ext uri="{FF2B5EF4-FFF2-40B4-BE49-F238E27FC236}">
                <a16:creationId xmlns:a16="http://schemas.microsoft.com/office/drawing/2014/main" id="{4FF4E138-8CCD-B845-8EF4-16DF6104DE4D}"/>
              </a:ext>
            </a:extLst>
          </p:cNvPr>
          <p:cNvSpPr txBox="1"/>
          <p:nvPr/>
        </p:nvSpPr>
        <p:spPr>
          <a:xfrm>
            <a:off x="863600" y="5486400"/>
            <a:ext cx="1333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l"/>
            <a:r>
              <a:rPr lang="en" altLang="zh-CN" sz="900" b="1">
                <a:solidFill>
                  <a:srgbClr val="7C3AED"/>
                </a:solidFill>
                <a:latin typeface="Comic Sans MS"/>
              </a:rPr>
              <a:t>READING GUIDE</a:t>
            </a:r>
            <a:endParaRPr lang="zh-CN" altLang="en-US" sz="900" b="1">
              <a:solidFill>
                <a:srgbClr val="7C3AED"/>
              </a:solidFill>
              <a:latin typeface="Comic Sans MS"/>
            </a:endParaRPr>
          </a:p>
        </p:txBody>
      </p:sp>
      <p:sp>
        <p:nvSpPr>
          <p:cNvPr id="625" name="椭圆 624">
            <a:extLst>
              <a:ext uri="{FF2B5EF4-FFF2-40B4-BE49-F238E27FC236}">
                <a16:creationId xmlns:a16="http://schemas.microsoft.com/office/drawing/2014/main" id="{46DB58D0-1710-744D-9C70-1D0A259F0FC2}"/>
              </a:ext>
            </a:extLst>
          </p:cNvPr>
          <p:cNvSpPr/>
          <p:nvPr/>
        </p:nvSpPr>
        <p:spPr>
          <a:xfrm>
            <a:off x="914400" y="5740400"/>
            <a:ext cx="228600" cy="2286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6" name="文本框 625">
            <a:extLst>
              <a:ext uri="{FF2B5EF4-FFF2-40B4-BE49-F238E27FC236}">
                <a16:creationId xmlns:a16="http://schemas.microsoft.com/office/drawing/2014/main" id="{99B0FA39-CD24-C34E-9C1E-0CF5FE1E7245}"/>
              </a:ext>
            </a:extLst>
          </p:cNvPr>
          <p:cNvSpPr txBox="1"/>
          <p:nvPr/>
        </p:nvSpPr>
        <p:spPr>
          <a:xfrm>
            <a:off x="914400" y="5740400"/>
            <a:ext cx="228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1000" b="1">
                <a:solidFill>
                  <a:srgbClr val="FFFFFF"/>
                </a:solidFill>
                <a:latin typeface="Comic Sans MS"/>
              </a:rPr>
              <a:t>x</a:t>
            </a:r>
            <a:endParaRPr lang="zh-CN" altLang="en-US" sz="1000" b="1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627" name="文本框 626">
            <a:extLst>
              <a:ext uri="{FF2B5EF4-FFF2-40B4-BE49-F238E27FC236}">
                <a16:creationId xmlns:a16="http://schemas.microsoft.com/office/drawing/2014/main" id="{333E2959-0E11-FC45-98D4-5BFAF37DFDB9}"/>
              </a:ext>
            </a:extLst>
          </p:cNvPr>
          <p:cNvSpPr txBox="1"/>
          <p:nvPr/>
        </p:nvSpPr>
        <p:spPr>
          <a:xfrm>
            <a:off x="1231900" y="5727700"/>
            <a:ext cx="1473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" altLang="zh-CN" sz="710">
                <a:solidFill>
                  <a:srgbClr val="303A52"/>
                </a:solidFill>
                <a:latin typeface="Comic Sans MS"/>
              </a:rPr>
              <a:t>observed evidence</a:t>
            </a:r>
            <a:endParaRPr lang="zh-CN" altLang="en-US" sz="71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628" name="菱形 627">
            <a:extLst>
              <a:ext uri="{FF2B5EF4-FFF2-40B4-BE49-F238E27FC236}">
                <a16:creationId xmlns:a16="http://schemas.microsoft.com/office/drawing/2014/main" id="{368E3794-24C8-4349-9CC9-7C04A81BB1FB}"/>
              </a:ext>
            </a:extLst>
          </p:cNvPr>
          <p:cNvSpPr/>
          <p:nvPr/>
        </p:nvSpPr>
        <p:spPr>
          <a:xfrm>
            <a:off x="3022600" y="5740400"/>
            <a:ext cx="228600" cy="228600"/>
          </a:xfrm>
          <a:prstGeom prst="diamond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9" name="文本框 628">
            <a:extLst>
              <a:ext uri="{FF2B5EF4-FFF2-40B4-BE49-F238E27FC236}">
                <a16:creationId xmlns:a16="http://schemas.microsoft.com/office/drawing/2014/main" id="{D89BE71C-EDEA-644F-AB5C-773B8DD13F88}"/>
              </a:ext>
            </a:extLst>
          </p:cNvPr>
          <p:cNvSpPr txBox="1"/>
          <p:nvPr/>
        </p:nvSpPr>
        <p:spPr>
          <a:xfrm>
            <a:off x="3340100" y="5727700"/>
            <a:ext cx="1473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l-GR" altLang="zh-CN" sz="750">
                <a:solidFill>
                  <a:srgbClr val="303A52"/>
                </a:solidFill>
                <a:latin typeface="Cambria Math"/>
                <a:ea typeface="Cambria Math"/>
                <a:cs typeface="Courier New"/>
              </a:rPr>
              <a:t>α</a:t>
            </a:r>
            <a:r>
              <a:rPr lang="en" altLang="zh-CN" sz="750">
                <a:solidFill>
                  <a:srgbClr val="303A52"/>
                </a:solidFill>
                <a:latin typeface="Cambria Math"/>
                <a:ea typeface="Cambria Math"/>
                <a:cs typeface="Courier New"/>
              </a:rPr>
              <a:t>ᵢ: modality gate weight</a:t>
            </a:r>
            <a:endParaRPr lang="zh-CN" altLang="en-US" sz="750">
              <a:solidFill>
                <a:srgbClr val="303A52"/>
              </a:solidFill>
              <a:latin typeface="Cambria Math"/>
              <a:cs typeface="Courier New"/>
            </a:endParaRPr>
          </a:p>
        </p:txBody>
      </p:sp>
      <p:sp>
        <p:nvSpPr>
          <p:cNvPr id="630" name="六边形 629">
            <a:extLst>
              <a:ext uri="{FF2B5EF4-FFF2-40B4-BE49-F238E27FC236}">
                <a16:creationId xmlns:a16="http://schemas.microsoft.com/office/drawing/2014/main" id="{A425CB77-7FE5-1346-8F9A-83AC43BE6EAD}"/>
              </a:ext>
            </a:extLst>
          </p:cNvPr>
          <p:cNvSpPr/>
          <p:nvPr/>
        </p:nvSpPr>
        <p:spPr>
          <a:xfrm>
            <a:off x="5130800" y="5740400"/>
            <a:ext cx="228600" cy="228600"/>
          </a:xfrm>
          <a:prstGeom prst="hexagon">
            <a:avLst/>
          </a:prstGeom>
          <a:solidFill>
            <a:srgbClr val="596A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1" name="文本框 630">
            <a:extLst>
              <a:ext uri="{FF2B5EF4-FFF2-40B4-BE49-F238E27FC236}">
                <a16:creationId xmlns:a16="http://schemas.microsoft.com/office/drawing/2014/main" id="{2D4EDFAD-A90B-2344-8C27-0A616B63AF80}"/>
              </a:ext>
            </a:extLst>
          </p:cNvPr>
          <p:cNvSpPr txBox="1"/>
          <p:nvPr/>
        </p:nvSpPr>
        <p:spPr>
          <a:xfrm>
            <a:off x="5448300" y="5727700"/>
            <a:ext cx="1473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" altLang="zh-CN" sz="710">
                <a:solidFill>
                  <a:srgbClr val="303A52"/>
                </a:solidFill>
                <a:latin typeface="Comic Sans MS"/>
              </a:rPr>
              <a:t>safety constraint</a:t>
            </a:r>
            <a:endParaRPr lang="zh-CN" altLang="en-US" sz="71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632" name="右箭头 631">
            <a:extLst>
              <a:ext uri="{FF2B5EF4-FFF2-40B4-BE49-F238E27FC236}">
                <a16:creationId xmlns:a16="http://schemas.microsoft.com/office/drawing/2014/main" id="{176E45CE-14BE-784E-9237-2D7B8129F615}"/>
              </a:ext>
            </a:extLst>
          </p:cNvPr>
          <p:cNvSpPr/>
          <p:nvPr/>
        </p:nvSpPr>
        <p:spPr>
          <a:xfrm>
            <a:off x="7239000" y="5765800"/>
            <a:ext cx="279400" cy="165100"/>
          </a:xfrm>
          <a:prstGeom prst="rightArrow">
            <a:avLst/>
          </a:prstGeom>
          <a:solidFill>
            <a:srgbClr val="1E2A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3" name="文本框 632">
            <a:extLst>
              <a:ext uri="{FF2B5EF4-FFF2-40B4-BE49-F238E27FC236}">
                <a16:creationId xmlns:a16="http://schemas.microsoft.com/office/drawing/2014/main" id="{A9FFBF64-081B-4344-BC53-052B1B3B3760}"/>
              </a:ext>
            </a:extLst>
          </p:cNvPr>
          <p:cNvSpPr txBox="1"/>
          <p:nvPr/>
        </p:nvSpPr>
        <p:spPr>
          <a:xfrm>
            <a:off x="7607300" y="5727700"/>
            <a:ext cx="1473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" altLang="zh-CN" sz="710">
                <a:solidFill>
                  <a:srgbClr val="303A52"/>
                </a:solidFill>
                <a:latin typeface="Comic Sans MS"/>
              </a:rPr>
              <a:t>core decision path</a:t>
            </a:r>
            <a:endParaRPr lang="zh-CN" altLang="en-US" sz="71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634" name="矩形 633">
            <a:extLst>
              <a:ext uri="{FF2B5EF4-FFF2-40B4-BE49-F238E27FC236}">
                <a16:creationId xmlns:a16="http://schemas.microsoft.com/office/drawing/2014/main" id="{7E785F65-0C01-4844-92E8-856EDFE8FDCB}"/>
              </a:ext>
            </a:extLst>
          </p:cNvPr>
          <p:cNvSpPr/>
          <p:nvPr/>
        </p:nvSpPr>
        <p:spPr>
          <a:xfrm>
            <a:off x="9347200" y="5842000"/>
            <a:ext cx="38100" cy="1905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5" name="矩形 634">
            <a:extLst>
              <a:ext uri="{FF2B5EF4-FFF2-40B4-BE49-F238E27FC236}">
                <a16:creationId xmlns:a16="http://schemas.microsoft.com/office/drawing/2014/main" id="{5807D74B-E6E0-1A45-B1BB-5849E616CAD3}"/>
              </a:ext>
            </a:extLst>
          </p:cNvPr>
          <p:cNvSpPr/>
          <p:nvPr/>
        </p:nvSpPr>
        <p:spPr>
          <a:xfrm>
            <a:off x="9410700" y="5842000"/>
            <a:ext cx="38100" cy="1905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D61916DF-0F7E-6A4C-B8ED-E80FB7AE5457}"/>
              </a:ext>
            </a:extLst>
          </p:cNvPr>
          <p:cNvSpPr/>
          <p:nvPr/>
        </p:nvSpPr>
        <p:spPr>
          <a:xfrm>
            <a:off x="9474200" y="5842000"/>
            <a:ext cx="38100" cy="1905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7" name="矩形 636">
            <a:extLst>
              <a:ext uri="{FF2B5EF4-FFF2-40B4-BE49-F238E27FC236}">
                <a16:creationId xmlns:a16="http://schemas.microsoft.com/office/drawing/2014/main" id="{A926D103-34C8-204C-8C79-3BB91DEFE92D}"/>
              </a:ext>
            </a:extLst>
          </p:cNvPr>
          <p:cNvSpPr/>
          <p:nvPr/>
        </p:nvSpPr>
        <p:spPr>
          <a:xfrm>
            <a:off x="9537700" y="5842000"/>
            <a:ext cx="38100" cy="1905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8" name="矩形 637">
            <a:extLst>
              <a:ext uri="{FF2B5EF4-FFF2-40B4-BE49-F238E27FC236}">
                <a16:creationId xmlns:a16="http://schemas.microsoft.com/office/drawing/2014/main" id="{C60A6A2A-F431-CB42-A619-AF111EAEF3D7}"/>
              </a:ext>
            </a:extLst>
          </p:cNvPr>
          <p:cNvSpPr/>
          <p:nvPr/>
        </p:nvSpPr>
        <p:spPr>
          <a:xfrm>
            <a:off x="9601200" y="5842000"/>
            <a:ext cx="38100" cy="1905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9" name="矩形 638">
            <a:extLst>
              <a:ext uri="{FF2B5EF4-FFF2-40B4-BE49-F238E27FC236}">
                <a16:creationId xmlns:a16="http://schemas.microsoft.com/office/drawing/2014/main" id="{CAFD4B0C-8B01-3D46-ACA8-EB3BEF82601D}"/>
              </a:ext>
            </a:extLst>
          </p:cNvPr>
          <p:cNvSpPr/>
          <p:nvPr/>
        </p:nvSpPr>
        <p:spPr>
          <a:xfrm>
            <a:off x="9664700" y="5842000"/>
            <a:ext cx="38100" cy="19050"/>
          </a:xfrm>
          <a:prstGeom prst="rect">
            <a:avLst/>
          </a:prstGeom>
          <a:solidFill>
            <a:srgbClr val="4F46E5"/>
          </a:solidFill>
          <a:ln w="2540" cap="flat" cmpd="sng" algn="ctr">
            <a:solidFill>
              <a:srgbClr val="5595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0" name="文本框 639">
            <a:extLst>
              <a:ext uri="{FF2B5EF4-FFF2-40B4-BE49-F238E27FC236}">
                <a16:creationId xmlns:a16="http://schemas.microsoft.com/office/drawing/2014/main" id="{67119A74-449A-0240-8FCA-F9AACCFC9AED}"/>
              </a:ext>
            </a:extLst>
          </p:cNvPr>
          <p:cNvSpPr txBox="1"/>
          <p:nvPr/>
        </p:nvSpPr>
        <p:spPr>
          <a:xfrm>
            <a:off x="9817100" y="5727700"/>
            <a:ext cx="1587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" altLang="zh-CN" sz="710">
                <a:solidFill>
                  <a:srgbClr val="303A52"/>
                </a:solidFill>
                <a:latin typeface="Comic Sans MS"/>
              </a:rPr>
              <a:t>optional history context</a:t>
            </a:r>
            <a:endParaRPr lang="zh-CN" altLang="en-US" sz="710">
              <a:solidFill>
                <a:srgbClr val="303A52"/>
              </a:solidFill>
              <a:latin typeface="Comic Sans MS"/>
            </a:endParaRPr>
          </a:p>
        </p:txBody>
      </p:sp>
      <p:sp>
        <p:nvSpPr>
          <p:cNvPr id="641" name="文本框 640">
            <a:extLst>
              <a:ext uri="{FF2B5EF4-FFF2-40B4-BE49-F238E27FC236}">
                <a16:creationId xmlns:a16="http://schemas.microsoft.com/office/drawing/2014/main" id="{37C6839C-D70E-8344-A7EE-3AFF1079A146}"/>
              </a:ext>
            </a:extLst>
          </p:cNvPr>
          <p:cNvSpPr txBox="1"/>
          <p:nvPr/>
        </p:nvSpPr>
        <p:spPr>
          <a:xfrm>
            <a:off x="990600" y="6210300"/>
            <a:ext cx="102108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CN" sz="720">
                <a:solidFill>
                  <a:srgbClr val="64748B"/>
                </a:solidFill>
                <a:latin typeface="Comic Sans MS"/>
              </a:rPr>
              <a:t>Boundary: personalized thermal-comfort support only — no diagnosis, heat-illness prediction, or unsupported certainty.</a:t>
            </a:r>
            <a:endParaRPr lang="zh-CN" altLang="en-US" sz="720">
              <a:solidFill>
                <a:srgbClr val="64748B"/>
              </a:solidFill>
              <a:latin typeface="Comic Sans MS"/>
            </a:endParaRPr>
          </a:p>
        </p:txBody>
      </p:sp>
      <p:sp>
        <p:nvSpPr>
          <p:cNvPr id="642" name="右箭头 641">
            <a:extLst>
              <a:ext uri="{FF2B5EF4-FFF2-40B4-BE49-F238E27FC236}">
                <a16:creationId xmlns:a16="http://schemas.microsoft.com/office/drawing/2014/main" id="{203C4061-86A1-584B-AC54-D52715862229}"/>
              </a:ext>
            </a:extLst>
          </p:cNvPr>
          <p:cNvSpPr/>
          <p:nvPr/>
        </p:nvSpPr>
        <p:spPr>
          <a:xfrm>
            <a:off x="8679732" y="4526098"/>
            <a:ext cx="165100" cy="177800"/>
          </a:xfrm>
          <a:prstGeom prst="rightArrow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3" name="文本框 642">
            <a:extLst>
              <a:ext uri="{FF2B5EF4-FFF2-40B4-BE49-F238E27FC236}">
                <a16:creationId xmlns:a16="http://schemas.microsoft.com/office/drawing/2014/main" id="{1A76751A-D51F-8841-8169-349C9F84CBE6}"/>
              </a:ext>
            </a:extLst>
          </p:cNvPr>
          <p:cNvSpPr txBox="1"/>
          <p:nvPr/>
        </p:nvSpPr>
        <p:spPr>
          <a:xfrm>
            <a:off x="9220200" y="4457700"/>
            <a:ext cx="18923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" altLang="zh-CN" sz="750" b="1" dirty="0">
                <a:solidFill>
                  <a:srgbClr val="FFFFFF"/>
                </a:solidFill>
                <a:latin typeface="Comic Sans MS"/>
              </a:rPr>
              <a:t>OUTPUT</a:t>
            </a:r>
            <a:endParaRPr lang="zh-CN" altLang="en-US" sz="750" b="1" dirty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644" name="文本框 643">
            <a:extLst>
              <a:ext uri="{FF2B5EF4-FFF2-40B4-BE49-F238E27FC236}">
                <a16:creationId xmlns:a16="http://schemas.microsoft.com/office/drawing/2014/main" id="{2E55ABD1-47D6-F54A-8F65-1F44C73FB0ED}"/>
              </a:ext>
            </a:extLst>
          </p:cNvPr>
          <p:cNvSpPr txBox="1"/>
          <p:nvPr/>
        </p:nvSpPr>
        <p:spPr>
          <a:xfrm>
            <a:off x="9220200" y="4635500"/>
            <a:ext cx="189230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" altLang="zh-CN" sz="620">
                <a:solidFill>
                  <a:srgbClr val="FFFFFF"/>
                </a:solidFill>
                <a:latin typeface="Comic Sans MS"/>
              </a:rPr>
              <a:t>preference · confidence · action
evidence IDs · safety fallback</a:t>
            </a:r>
            <a:endParaRPr lang="zh-CN" altLang="en-US" sz="620">
              <a:solidFill>
                <a:srgbClr val="FFFFFF"/>
              </a:solidFill>
              <a:latin typeface="Comic Sans MS"/>
            </a:endParaRPr>
          </a:p>
        </p:txBody>
      </p:sp>
      <p:pic>
        <p:nvPicPr>
          <p:cNvPr id="646" name="图片 645">
            <a:extLst>
              <a:ext uri="{FF2B5EF4-FFF2-40B4-BE49-F238E27FC236}">
                <a16:creationId xmlns:a16="http://schemas.microsoft.com/office/drawing/2014/main" id="{0CC86C12-FEFF-D51F-FDF9-EFE57FC66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04" y="3640504"/>
            <a:ext cx="214596" cy="214596"/>
          </a:xfrm>
          <a:prstGeom prst="rect">
            <a:avLst/>
          </a:prstGeom>
        </p:spPr>
      </p:pic>
      <p:pic>
        <p:nvPicPr>
          <p:cNvPr id="648" name="图片 647">
            <a:extLst>
              <a:ext uri="{FF2B5EF4-FFF2-40B4-BE49-F238E27FC236}">
                <a16:creationId xmlns:a16="http://schemas.microsoft.com/office/drawing/2014/main" id="{6357D34D-E861-DCB4-6CD8-74921406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78" y="4229100"/>
            <a:ext cx="203200" cy="203200"/>
          </a:xfrm>
          <a:prstGeom prst="rect">
            <a:avLst/>
          </a:prstGeom>
        </p:spPr>
      </p:pic>
      <p:pic>
        <p:nvPicPr>
          <p:cNvPr id="650" name="图片 649">
            <a:extLst>
              <a:ext uri="{FF2B5EF4-FFF2-40B4-BE49-F238E27FC236}">
                <a16:creationId xmlns:a16="http://schemas.microsoft.com/office/drawing/2014/main" id="{B6E329DF-2397-7AA0-97BD-A4200D111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509" y="2465754"/>
            <a:ext cx="224690" cy="224690"/>
          </a:xfrm>
          <a:prstGeom prst="rect">
            <a:avLst/>
          </a:prstGeom>
        </p:spPr>
      </p:pic>
      <p:pic>
        <p:nvPicPr>
          <p:cNvPr id="652" name="图片 651">
            <a:extLst>
              <a:ext uri="{FF2B5EF4-FFF2-40B4-BE49-F238E27FC236}">
                <a16:creationId xmlns:a16="http://schemas.microsoft.com/office/drawing/2014/main" id="{DD979530-2679-7139-16C6-75B94B5F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981" y="3041031"/>
            <a:ext cx="227012" cy="227012"/>
          </a:xfrm>
          <a:prstGeom prst="rect">
            <a:avLst/>
          </a:prstGeom>
        </p:spPr>
      </p:pic>
      <p:sp>
        <p:nvSpPr>
          <p:cNvPr id="657" name="Gate Environment Circle">
            <a:extLst>
              <a:ext uri="{FF2B5EF4-FFF2-40B4-BE49-F238E27FC236}">
                <a16:creationId xmlns:a16="http://schemas.microsoft.com/office/drawing/2014/main" id="{729E12DC-AC22-574A-87CE-A9A5BCFCF741}"/>
              </a:ext>
            </a:extLst>
          </p:cNvPr>
          <p:cNvSpPr/>
          <p:nvPr/>
        </p:nvSpPr>
        <p:spPr>
          <a:xfrm>
            <a:off x="3810000" y="4495800"/>
            <a:ext cx="393700" cy="3937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58" name="Gate Physiology Circle">
            <a:extLst>
              <a:ext uri="{FF2B5EF4-FFF2-40B4-BE49-F238E27FC236}">
                <a16:creationId xmlns:a16="http://schemas.microsoft.com/office/drawing/2014/main" id="{CC60071F-C2C8-2349-AF0D-B9E63EB4F7F8}"/>
              </a:ext>
            </a:extLst>
          </p:cNvPr>
          <p:cNvSpPr/>
          <p:nvPr/>
        </p:nvSpPr>
        <p:spPr>
          <a:xfrm>
            <a:off x="4308834" y="4495800"/>
            <a:ext cx="393700" cy="3937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59" name="Gate Activity Circle">
            <a:extLst>
              <a:ext uri="{FF2B5EF4-FFF2-40B4-BE49-F238E27FC236}">
                <a16:creationId xmlns:a16="http://schemas.microsoft.com/office/drawing/2014/main" id="{B9A3C305-BBC3-F845-A479-3B2705766BD1}"/>
              </a:ext>
            </a:extLst>
          </p:cNvPr>
          <p:cNvSpPr/>
          <p:nvPr/>
        </p:nvSpPr>
        <p:spPr>
          <a:xfrm>
            <a:off x="4857750" y="4495800"/>
            <a:ext cx="393700" cy="3937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60" name="Gate Static Circle">
            <a:extLst>
              <a:ext uri="{FF2B5EF4-FFF2-40B4-BE49-F238E27FC236}">
                <a16:creationId xmlns:a16="http://schemas.microsoft.com/office/drawing/2014/main" id="{622F4958-E17E-E24B-8F99-922B472C5714}"/>
              </a:ext>
            </a:extLst>
          </p:cNvPr>
          <p:cNvSpPr/>
          <p:nvPr/>
        </p:nvSpPr>
        <p:spPr>
          <a:xfrm>
            <a:off x="5365750" y="4495800"/>
            <a:ext cx="393700" cy="393700"/>
          </a:xfrm>
          <a:prstGeom prst="ellipse">
            <a:avLst/>
          </a:prstGeom>
          <a:solidFill>
            <a:srgbClr val="596A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pic>
        <p:nvPicPr>
          <p:cNvPr id="653" name="Gate Environment Icon">
            <a:extLst>
              <a:ext uri="{FF2B5EF4-FFF2-40B4-BE49-F238E27FC236}">
                <a16:creationId xmlns:a16="http://schemas.microsoft.com/office/drawing/2014/main" id="{B6E329DF-2397-7AA0-97BD-A4200D111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572000"/>
            <a:ext cx="241300" cy="241300"/>
          </a:xfrm>
          <a:prstGeom prst="rect">
            <a:avLst/>
          </a:prstGeom>
        </p:spPr>
      </p:pic>
      <p:pic>
        <p:nvPicPr>
          <p:cNvPr id="654" name="Gate Physiology Icon">
            <a:extLst>
              <a:ext uri="{FF2B5EF4-FFF2-40B4-BE49-F238E27FC236}">
                <a16:creationId xmlns:a16="http://schemas.microsoft.com/office/drawing/2014/main" id="{DD979530-2679-7139-16C6-75B94B5F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034" y="4572000"/>
            <a:ext cx="241300" cy="241300"/>
          </a:xfrm>
          <a:prstGeom prst="rect">
            <a:avLst/>
          </a:prstGeom>
        </p:spPr>
      </p:pic>
      <p:pic>
        <p:nvPicPr>
          <p:cNvPr id="655" name="Gate Activity Icon">
            <a:extLst>
              <a:ext uri="{FF2B5EF4-FFF2-40B4-BE49-F238E27FC236}">
                <a16:creationId xmlns:a16="http://schemas.microsoft.com/office/drawing/2014/main" id="{0CC86C12-FEFF-D51F-FDF9-EFE57FC66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0" y="4572000"/>
            <a:ext cx="241300" cy="241300"/>
          </a:xfrm>
          <a:prstGeom prst="rect">
            <a:avLst/>
          </a:prstGeom>
        </p:spPr>
      </p:pic>
      <p:pic>
        <p:nvPicPr>
          <p:cNvPr id="656" name="Gate Static Icon">
            <a:extLst>
              <a:ext uri="{FF2B5EF4-FFF2-40B4-BE49-F238E27FC236}">
                <a16:creationId xmlns:a16="http://schemas.microsoft.com/office/drawing/2014/main" id="{6357D34D-E861-DCB4-6CD8-74921406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50" y="4572000"/>
            <a:ext cx="2413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EF2788-5996-5D47-B77A-E97818ACE516}">
  <we:reference id="wa200010215" version="2.0.0.0" store="zh-CN" storeType="OMEX"/>
  <we:alternateReferences>
    <we:reference id="wa200010215" version="2.0.0.0" store="zh-CN" storeType="OMEX"/>
  </we:alternateReferences>
  <we:properties>
    <we:property name="bps.codex_control.document_id" value="&quot;063ba7a6-fb57-46fb-8ea2-6269f5c3af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211</Words>
  <Application>Microsoft Macintosh PowerPoint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ClaireZ [Student]</dc:creator>
  <cp:lastModifiedBy>ZHANG, ClaireZ [Student]</cp:lastModifiedBy>
  <cp:revision>20</cp:revision>
  <dcterms:created xsi:type="dcterms:W3CDTF">2026-08-27T16:56:57Z</dcterms:created>
  <dcterms:modified xsi:type="dcterms:W3CDTF">2026-08-29T04:11:03Z</dcterms:modified>
</cp:coreProperties>
</file>